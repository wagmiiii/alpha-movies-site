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C8102E"/>
        </a:solidFill>
      </p:bgPr>
    </p:bg>
    <p:spTree>
      <p:nvGrpSpPr>
        <p:cNvPr id="1" name=""/>
        <p:cNvGrpSpPr/>
        <p:nvPr/>
      </p:nvGrpSpPr>
      <p:grpSpPr>
        <a:xfrm>
          <a:off x="0" y="0"/>
          <a:ext cx="0" cy="0"/>
          <a:chOff x="0" y="0"/>
          <a:chExt cx="0" cy="0"/>
        </a:xfrm>
      </p:grpSpPr>
      <p:sp>
        <p:nvSpPr>
          <p:cNvPr id="2" name="Shape 0"/>
          <p:cNvSpPr/>
          <p:nvPr/>
        </p:nvSpPr>
        <p:spPr>
          <a:xfrm>
            <a:off x="640080" y="822960"/>
            <a:ext cx="822960" cy="822960"/>
          </a:xfrm>
          <a:prstGeom prst="star6">
            <a:avLst/>
          </a:prstGeom>
          <a:solidFill>
            <a:srgbClr val="FFFFFF"/>
          </a:solidFill>
          <a:ln w="12700">
            <a:solidFill>
              <a:srgbClr val="FFFFFF"/>
            </a:solidFill>
            <a:prstDash val="solid"/>
          </a:ln>
        </p:spPr>
      </p:sp>
      <p:sp>
        <p:nvSpPr>
          <p:cNvPr id="3" name="Text 1"/>
          <p:cNvSpPr txBox="1"/>
          <p:nvPr/>
        </p:nvSpPr>
        <p:spPr>
          <a:xfrm>
            <a:off x="640080" y="1828800"/>
            <a:ext cx="6281928" cy="2011680"/>
          </a:xfrm>
          <a:prstGeom prst="rect">
            <a:avLst/>
          </a:prstGeom>
          <a:noFill/>
          <a:ln/>
        </p:spPr>
        <p:txBody>
          <a:bodyPr wrap="square" lIns="0" tIns="0" rIns="0" bIns="0" rtlCol="0" anchor="t"/>
          <a:lstStyle/>
          <a:p>
            <a:pPr indent="0" marL="0">
              <a:lnSpc>
                <a:spcPct val="95000"/>
              </a:lnSpc>
              <a:buNone/>
            </a:pPr>
            <a:r>
              <a:rPr lang="en-US" sz="6400" b="1" dirty="0">
                <a:solidFill>
                  <a:srgbClr val="FFFFFF"/>
                </a:solidFill>
                <a:latin typeface="Arial" pitchFamily="34" charset="0"/>
                <a:ea typeface="Arial" pitchFamily="34" charset="-122"/>
                <a:cs typeface="Arial" pitchFamily="34" charset="-120"/>
              </a:rPr>
              <a:t>Alpha Movies</a:t>
            </a:r>
            <a:endParaRPr lang="en-US" sz="6400" dirty="0"/>
          </a:p>
          <a:p>
            <a:pPr indent="0" marL="0">
              <a:lnSpc>
                <a:spcPct val="95000"/>
              </a:lnSpc>
              <a:buNone/>
            </a:pPr>
            <a:r>
              <a:rPr lang="en-US" sz="6400" b="1" dirty="0">
                <a:solidFill>
                  <a:srgbClr val="FFFFFF"/>
                </a:solidFill>
                <a:latin typeface="Arial" pitchFamily="34" charset="0"/>
                <a:ea typeface="Arial" pitchFamily="34" charset="-122"/>
                <a:cs typeface="Arial" pitchFamily="34" charset="-120"/>
              </a:rPr>
              <a:t>Proposal</a:t>
            </a:r>
            <a:endParaRPr lang="en-US" sz="6400" dirty="0"/>
          </a:p>
        </p:txBody>
      </p:sp>
      <p:sp>
        <p:nvSpPr>
          <p:cNvPr id="4" name="Shape 2"/>
          <p:cNvSpPr/>
          <p:nvPr/>
        </p:nvSpPr>
        <p:spPr>
          <a:xfrm>
            <a:off x="640080" y="4114800"/>
            <a:ext cx="6281928" cy="0"/>
          </a:xfrm>
          <a:prstGeom prst="line">
            <a:avLst/>
          </a:prstGeom>
          <a:noFill/>
          <a:ln w="38100">
            <a:solidFill>
              <a:srgbClr val="FFFFFF"/>
            </a:solidFill>
            <a:prstDash val="solid"/>
          </a:ln>
        </p:spPr>
      </p:sp>
      <p:sp>
        <p:nvSpPr>
          <p:cNvPr id="5" name="Text 3"/>
          <p:cNvSpPr txBox="1"/>
          <p:nvPr/>
        </p:nvSpPr>
        <p:spPr>
          <a:xfrm>
            <a:off x="640080" y="4343400"/>
            <a:ext cx="6281928"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CLIENT BOOKING AND SHOWCASE WEBSITE</a:t>
            </a:r>
            <a:endParaRPr lang="en-US" sz="1600" dirty="0"/>
          </a:p>
        </p:txBody>
      </p:sp>
      <p:sp>
        <p:nvSpPr>
          <p:cNvPr id="6" name="Text 4"/>
          <p:cNvSpPr txBox="1"/>
          <p:nvPr/>
        </p:nvSpPr>
        <p:spPr>
          <a:xfrm>
            <a:off x="640080" y="4754880"/>
            <a:ext cx="6281928"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PREPARED FOR: BOY CONCEPT</a:t>
            </a:r>
            <a:endParaRPr lang="en-US" sz="1600" dirty="0"/>
          </a:p>
        </p:txBody>
      </p:sp>
      <p:sp>
        <p:nvSpPr>
          <p:cNvPr id="7" name="Text 5"/>
          <p:cNvSpPr txBox="1"/>
          <p:nvPr/>
        </p:nvSpPr>
        <p:spPr>
          <a:xfrm>
            <a:off x="640080" y="9235440"/>
            <a:ext cx="6281928"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PREPARED BY: [YOUR NAME]</a:t>
            </a:r>
            <a:endParaRPr lang="en-US" sz="1600" dirty="0"/>
          </a:p>
        </p:txBody>
      </p:sp>
      <p:sp>
        <p:nvSpPr>
          <p:cNvPr id="8" name="Text 6"/>
          <p:cNvSpPr txBox="1"/>
          <p:nvPr/>
        </p:nvSpPr>
        <p:spPr>
          <a:xfrm>
            <a:off x="640080" y="9646920"/>
            <a:ext cx="6281928" cy="36576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DATE: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0E8"/>
        </a:solidFill>
      </p:bgPr>
    </p:bg>
    <p:spTree>
      <p:nvGrpSpPr>
        <p:cNvPr id="1" name=""/>
        <p:cNvGrpSpPr/>
        <p:nvPr/>
      </p:nvGrpSpPr>
      <p:grpSpPr>
        <a:xfrm>
          <a:off x="0" y="0"/>
          <a:ext cx="0" cy="0"/>
          <a:chOff x="0" y="0"/>
          <a:chExt cx="0" cy="0"/>
        </a:xfrm>
      </p:grpSpPr>
      <p:sp>
        <p:nvSpPr>
          <p:cNvPr id="2" name="Text 0"/>
          <p:cNvSpPr txBox="1"/>
          <p:nvPr/>
        </p:nvSpPr>
        <p:spPr>
          <a:xfrm>
            <a:off x="640080" y="548640"/>
            <a:ext cx="5120640" cy="1554480"/>
          </a:xfrm>
          <a:prstGeom prst="rect">
            <a:avLst/>
          </a:prstGeom>
          <a:noFill/>
          <a:ln/>
        </p:spPr>
        <p:txBody>
          <a:bodyPr wrap="square" lIns="0" tIns="0" rIns="0" bIns="0" rtlCol="0" anchor="t"/>
          <a:lstStyle/>
          <a:p>
            <a:pPr indent="0" marL="0">
              <a:lnSpc>
                <a:spcPct val="90000"/>
              </a:lnSpc>
              <a:buNone/>
            </a:pPr>
            <a:r>
              <a:rPr lang="en-US" sz="4400" b="1" dirty="0">
                <a:solidFill>
                  <a:srgbClr val="C8102E"/>
                </a:solidFill>
                <a:latin typeface="Arial" pitchFamily="34" charset="0"/>
                <a:ea typeface="Arial" pitchFamily="34" charset="-122"/>
                <a:cs typeface="Arial" pitchFamily="34" charset="-120"/>
              </a:rPr>
              <a:t>Table of</a:t>
            </a:r>
            <a:endParaRPr lang="en-US" sz="4400" dirty="0"/>
          </a:p>
          <a:p>
            <a:pPr indent="0" marL="0">
              <a:lnSpc>
                <a:spcPct val="90000"/>
              </a:lnSpc>
              <a:buNone/>
            </a:pPr>
            <a:r>
              <a:rPr lang="en-US" sz="4400" b="1" dirty="0">
                <a:solidFill>
                  <a:srgbClr val="C8102E"/>
                </a:solidFill>
                <a:latin typeface="Arial" pitchFamily="34" charset="0"/>
                <a:ea typeface="Arial" pitchFamily="34" charset="-122"/>
                <a:cs typeface="Arial" pitchFamily="34" charset="-120"/>
              </a:rPr>
              <a:t>Contents</a:t>
            </a:r>
            <a:endParaRPr lang="en-US" sz="4400" dirty="0"/>
          </a:p>
        </p:txBody>
      </p:sp>
      <p:sp>
        <p:nvSpPr>
          <p:cNvPr id="3" name="Shape 1"/>
          <p:cNvSpPr/>
          <p:nvPr/>
        </p:nvSpPr>
        <p:spPr>
          <a:xfrm>
            <a:off x="6400800" y="685800"/>
            <a:ext cx="502920" cy="502920"/>
          </a:xfrm>
          <a:prstGeom prst="star6">
            <a:avLst/>
          </a:prstGeom>
          <a:solidFill>
            <a:srgbClr val="C8102E"/>
          </a:solidFill>
          <a:ln w="12700">
            <a:solidFill>
              <a:srgbClr val="C8102E"/>
            </a:solidFill>
            <a:prstDash val="solid"/>
          </a:ln>
        </p:spPr>
      </p:sp>
      <p:sp>
        <p:nvSpPr>
          <p:cNvPr id="4" name="Shape 2"/>
          <p:cNvSpPr/>
          <p:nvPr/>
        </p:nvSpPr>
        <p:spPr>
          <a:xfrm>
            <a:off x="640080" y="2240280"/>
            <a:ext cx="6281928" cy="0"/>
          </a:xfrm>
          <a:prstGeom prst="line">
            <a:avLst/>
          </a:prstGeom>
          <a:noFill/>
          <a:ln w="38100">
            <a:solidFill>
              <a:srgbClr val="C8102E"/>
            </a:solidFill>
            <a:prstDash val="solid"/>
          </a:ln>
        </p:spPr>
      </p:sp>
      <p:sp>
        <p:nvSpPr>
          <p:cNvPr id="5" name="Text 3"/>
          <p:cNvSpPr txBox="1"/>
          <p:nvPr/>
        </p:nvSpPr>
        <p:spPr>
          <a:xfrm>
            <a:off x="640080" y="2743200"/>
            <a:ext cx="5303520" cy="457200"/>
          </a:xfrm>
          <a:prstGeom prst="rect">
            <a:avLst/>
          </a:prstGeom>
          <a:noFill/>
          <a:ln/>
        </p:spPr>
        <p:txBody>
          <a:bodyPr wrap="square" lIns="0" tIns="0" rIns="0" bIns="0" rtlCol="0" anchor="t"/>
          <a:lstStyle/>
          <a:p>
            <a:pPr indent="0" marL="0">
              <a:buNone/>
            </a:pPr>
            <a:r>
              <a:rPr lang="en-US" sz="2200" b="1" dirty="0">
                <a:solidFill>
                  <a:srgbClr val="C8102E"/>
                </a:solidFill>
                <a:latin typeface="Arial" pitchFamily="34" charset="0"/>
                <a:ea typeface="Arial" pitchFamily="34" charset="-122"/>
                <a:cs typeface="Arial" pitchFamily="34" charset="-120"/>
              </a:rPr>
              <a:t>EXECUTIVE SUMMARY</a:t>
            </a:r>
            <a:endParaRPr lang="en-US" sz="2200" dirty="0"/>
          </a:p>
        </p:txBody>
      </p:sp>
      <p:sp>
        <p:nvSpPr>
          <p:cNvPr id="6" name="Text 4"/>
          <p:cNvSpPr txBox="1"/>
          <p:nvPr/>
        </p:nvSpPr>
        <p:spPr>
          <a:xfrm>
            <a:off x="6190488" y="2816352"/>
            <a:ext cx="731520" cy="365760"/>
          </a:xfrm>
          <a:prstGeom prst="rect">
            <a:avLst/>
          </a:prstGeom>
          <a:noFill/>
          <a:ln/>
        </p:spPr>
        <p:txBody>
          <a:bodyPr wrap="square" lIns="0" tIns="0" rIns="0" bIns="0" rtlCol="0" anchor="t"/>
          <a:lstStyle/>
          <a:p>
            <a:pPr algn="r" indent="0" marL="0">
              <a:buNone/>
            </a:pPr>
            <a:r>
              <a:rPr lang="en-US" sz="1600" i="1" dirty="0">
                <a:solidFill>
                  <a:srgbClr val="C8102E"/>
                </a:solidFill>
                <a:latin typeface="Arial" pitchFamily="34" charset="0"/>
                <a:ea typeface="Arial" pitchFamily="34" charset="-122"/>
                <a:cs typeface="Arial" pitchFamily="34" charset="-120"/>
              </a:rPr>
              <a:t>3</a:t>
            </a:r>
            <a:endParaRPr lang="en-US" sz="1600" dirty="0"/>
          </a:p>
        </p:txBody>
      </p:sp>
      <p:sp>
        <p:nvSpPr>
          <p:cNvPr id="7" name="Shape 5"/>
          <p:cNvSpPr/>
          <p:nvPr/>
        </p:nvSpPr>
        <p:spPr>
          <a:xfrm>
            <a:off x="640080" y="3337560"/>
            <a:ext cx="6281928" cy="0"/>
          </a:xfrm>
          <a:prstGeom prst="line">
            <a:avLst/>
          </a:prstGeom>
          <a:noFill/>
          <a:ln w="12700">
            <a:solidFill>
              <a:srgbClr val="C8102E"/>
            </a:solidFill>
            <a:prstDash val="solid"/>
          </a:ln>
        </p:spPr>
      </p:sp>
      <p:sp>
        <p:nvSpPr>
          <p:cNvPr id="8" name="Text 6"/>
          <p:cNvSpPr txBox="1"/>
          <p:nvPr/>
        </p:nvSpPr>
        <p:spPr>
          <a:xfrm>
            <a:off x="640080" y="3749040"/>
            <a:ext cx="5303520" cy="457200"/>
          </a:xfrm>
          <a:prstGeom prst="rect">
            <a:avLst/>
          </a:prstGeom>
          <a:noFill/>
          <a:ln/>
        </p:spPr>
        <p:txBody>
          <a:bodyPr wrap="square" lIns="0" tIns="0" rIns="0" bIns="0" rtlCol="0" anchor="t"/>
          <a:lstStyle/>
          <a:p>
            <a:pPr indent="0" marL="0">
              <a:buNone/>
            </a:pPr>
            <a:r>
              <a:rPr lang="en-US" sz="2200" b="1" dirty="0">
                <a:solidFill>
                  <a:srgbClr val="C8102E"/>
                </a:solidFill>
                <a:latin typeface="Arial" pitchFamily="34" charset="0"/>
                <a:ea typeface="Arial" pitchFamily="34" charset="-122"/>
                <a:cs typeface="Arial" pitchFamily="34" charset="-120"/>
              </a:rPr>
              <a:t>COMPANY OVERVIEW</a:t>
            </a:r>
            <a:endParaRPr lang="en-US" sz="2200" dirty="0"/>
          </a:p>
        </p:txBody>
      </p:sp>
      <p:sp>
        <p:nvSpPr>
          <p:cNvPr id="9" name="Text 7"/>
          <p:cNvSpPr txBox="1"/>
          <p:nvPr/>
        </p:nvSpPr>
        <p:spPr>
          <a:xfrm>
            <a:off x="6190488" y="3822192"/>
            <a:ext cx="731520" cy="365760"/>
          </a:xfrm>
          <a:prstGeom prst="rect">
            <a:avLst/>
          </a:prstGeom>
          <a:noFill/>
          <a:ln/>
        </p:spPr>
        <p:txBody>
          <a:bodyPr wrap="square" lIns="0" tIns="0" rIns="0" bIns="0" rtlCol="0" anchor="t"/>
          <a:lstStyle/>
          <a:p>
            <a:pPr algn="r" indent="0" marL="0">
              <a:buNone/>
            </a:pPr>
            <a:r>
              <a:rPr lang="en-US" sz="1600" i="1" dirty="0">
                <a:solidFill>
                  <a:srgbClr val="C8102E"/>
                </a:solidFill>
                <a:latin typeface="Arial" pitchFamily="34" charset="0"/>
                <a:ea typeface="Arial" pitchFamily="34" charset="-122"/>
                <a:cs typeface="Arial" pitchFamily="34" charset="-120"/>
              </a:rPr>
              <a:t>4</a:t>
            </a:r>
            <a:endParaRPr lang="en-US" sz="1600" dirty="0"/>
          </a:p>
        </p:txBody>
      </p:sp>
      <p:sp>
        <p:nvSpPr>
          <p:cNvPr id="10" name="Shape 8"/>
          <p:cNvSpPr/>
          <p:nvPr/>
        </p:nvSpPr>
        <p:spPr>
          <a:xfrm>
            <a:off x="640080" y="4343400"/>
            <a:ext cx="6281928" cy="0"/>
          </a:xfrm>
          <a:prstGeom prst="line">
            <a:avLst/>
          </a:prstGeom>
          <a:noFill/>
          <a:ln w="12700">
            <a:solidFill>
              <a:srgbClr val="C8102E"/>
            </a:solidFill>
            <a:prstDash val="solid"/>
          </a:ln>
        </p:spPr>
      </p:sp>
      <p:sp>
        <p:nvSpPr>
          <p:cNvPr id="11" name="Text 9"/>
          <p:cNvSpPr txBox="1"/>
          <p:nvPr/>
        </p:nvSpPr>
        <p:spPr>
          <a:xfrm>
            <a:off x="640080" y="4754880"/>
            <a:ext cx="5303520" cy="457200"/>
          </a:xfrm>
          <a:prstGeom prst="rect">
            <a:avLst/>
          </a:prstGeom>
          <a:noFill/>
          <a:ln/>
        </p:spPr>
        <p:txBody>
          <a:bodyPr wrap="square" lIns="0" tIns="0" rIns="0" bIns="0" rtlCol="0" anchor="t"/>
          <a:lstStyle/>
          <a:p>
            <a:pPr indent="0" marL="0">
              <a:buNone/>
            </a:pPr>
            <a:r>
              <a:rPr lang="en-US" sz="2200" b="1" dirty="0">
                <a:solidFill>
                  <a:srgbClr val="C8102E"/>
                </a:solidFill>
                <a:latin typeface="Arial" pitchFamily="34" charset="0"/>
                <a:ea typeface="Arial" pitchFamily="34" charset="-122"/>
                <a:cs typeface="Arial" pitchFamily="34" charset="-120"/>
              </a:rPr>
              <a:t>MARKET ANALYSIS</a:t>
            </a:r>
            <a:endParaRPr lang="en-US" sz="2200" dirty="0"/>
          </a:p>
        </p:txBody>
      </p:sp>
      <p:sp>
        <p:nvSpPr>
          <p:cNvPr id="12" name="Text 10"/>
          <p:cNvSpPr txBox="1"/>
          <p:nvPr/>
        </p:nvSpPr>
        <p:spPr>
          <a:xfrm>
            <a:off x="6190488" y="4828032"/>
            <a:ext cx="731520" cy="365760"/>
          </a:xfrm>
          <a:prstGeom prst="rect">
            <a:avLst/>
          </a:prstGeom>
          <a:noFill/>
          <a:ln/>
        </p:spPr>
        <p:txBody>
          <a:bodyPr wrap="square" lIns="0" tIns="0" rIns="0" bIns="0" rtlCol="0" anchor="t"/>
          <a:lstStyle/>
          <a:p>
            <a:pPr algn="r" indent="0" marL="0">
              <a:buNone/>
            </a:pPr>
            <a:r>
              <a:rPr lang="en-US" sz="1600" i="1" dirty="0">
                <a:solidFill>
                  <a:srgbClr val="C8102E"/>
                </a:solidFill>
                <a:latin typeface="Arial" pitchFamily="34" charset="0"/>
                <a:ea typeface="Arial" pitchFamily="34" charset="-122"/>
                <a:cs typeface="Arial" pitchFamily="34" charset="-120"/>
              </a:rPr>
              <a:t>5</a:t>
            </a:r>
            <a:endParaRPr lang="en-US" sz="1600" dirty="0"/>
          </a:p>
        </p:txBody>
      </p:sp>
      <p:sp>
        <p:nvSpPr>
          <p:cNvPr id="13" name="Shape 11"/>
          <p:cNvSpPr/>
          <p:nvPr/>
        </p:nvSpPr>
        <p:spPr>
          <a:xfrm>
            <a:off x="640080" y="5349240"/>
            <a:ext cx="6281928" cy="0"/>
          </a:xfrm>
          <a:prstGeom prst="line">
            <a:avLst/>
          </a:prstGeom>
          <a:noFill/>
          <a:ln w="12700">
            <a:solidFill>
              <a:srgbClr val="C8102E"/>
            </a:solidFill>
            <a:prstDash val="solid"/>
          </a:ln>
        </p:spPr>
      </p:sp>
      <p:sp>
        <p:nvSpPr>
          <p:cNvPr id="14" name="Text 12"/>
          <p:cNvSpPr txBox="1"/>
          <p:nvPr/>
        </p:nvSpPr>
        <p:spPr>
          <a:xfrm>
            <a:off x="640080" y="5760720"/>
            <a:ext cx="5303520" cy="457200"/>
          </a:xfrm>
          <a:prstGeom prst="rect">
            <a:avLst/>
          </a:prstGeom>
          <a:noFill/>
          <a:ln/>
        </p:spPr>
        <p:txBody>
          <a:bodyPr wrap="square" lIns="0" tIns="0" rIns="0" bIns="0" rtlCol="0" anchor="t"/>
          <a:lstStyle/>
          <a:p>
            <a:pPr indent="0" marL="0">
              <a:buNone/>
            </a:pPr>
            <a:r>
              <a:rPr lang="en-US" sz="2200" b="1" dirty="0">
                <a:solidFill>
                  <a:srgbClr val="C8102E"/>
                </a:solidFill>
                <a:latin typeface="Arial" pitchFamily="34" charset="0"/>
                <a:ea typeface="Arial" pitchFamily="34" charset="-122"/>
                <a:cs typeface="Arial" pitchFamily="34" charset="-120"/>
              </a:rPr>
              <a:t>SERVICES</a:t>
            </a:r>
            <a:endParaRPr lang="en-US" sz="2200" dirty="0"/>
          </a:p>
        </p:txBody>
      </p:sp>
      <p:sp>
        <p:nvSpPr>
          <p:cNvPr id="15" name="Text 13"/>
          <p:cNvSpPr txBox="1"/>
          <p:nvPr/>
        </p:nvSpPr>
        <p:spPr>
          <a:xfrm>
            <a:off x="6190488" y="5833872"/>
            <a:ext cx="731520" cy="365760"/>
          </a:xfrm>
          <a:prstGeom prst="rect">
            <a:avLst/>
          </a:prstGeom>
          <a:noFill/>
          <a:ln/>
        </p:spPr>
        <p:txBody>
          <a:bodyPr wrap="square" lIns="0" tIns="0" rIns="0" bIns="0" rtlCol="0" anchor="t"/>
          <a:lstStyle/>
          <a:p>
            <a:pPr algn="r" indent="0" marL="0">
              <a:buNone/>
            </a:pPr>
            <a:r>
              <a:rPr lang="en-US" sz="1600" i="1" dirty="0">
                <a:solidFill>
                  <a:srgbClr val="C8102E"/>
                </a:solidFill>
                <a:latin typeface="Arial" pitchFamily="34" charset="0"/>
                <a:ea typeface="Arial" pitchFamily="34" charset="-122"/>
                <a:cs typeface="Arial" pitchFamily="34" charset="-120"/>
              </a:rPr>
              <a:t>6</a:t>
            </a:r>
            <a:endParaRPr lang="en-US" sz="1600" dirty="0"/>
          </a:p>
        </p:txBody>
      </p:sp>
      <p:sp>
        <p:nvSpPr>
          <p:cNvPr id="16" name="Shape 14"/>
          <p:cNvSpPr/>
          <p:nvPr/>
        </p:nvSpPr>
        <p:spPr>
          <a:xfrm>
            <a:off x="640080" y="6355080"/>
            <a:ext cx="6281928" cy="0"/>
          </a:xfrm>
          <a:prstGeom prst="line">
            <a:avLst/>
          </a:prstGeom>
          <a:noFill/>
          <a:ln w="12700">
            <a:solidFill>
              <a:srgbClr val="C8102E"/>
            </a:solidFill>
            <a:prstDash val="solid"/>
          </a:ln>
        </p:spPr>
      </p:sp>
      <p:sp>
        <p:nvSpPr>
          <p:cNvPr id="17" name="Text 15"/>
          <p:cNvSpPr txBox="1"/>
          <p:nvPr/>
        </p:nvSpPr>
        <p:spPr>
          <a:xfrm>
            <a:off x="640080" y="6766560"/>
            <a:ext cx="5303520" cy="457200"/>
          </a:xfrm>
          <a:prstGeom prst="rect">
            <a:avLst/>
          </a:prstGeom>
          <a:noFill/>
          <a:ln/>
        </p:spPr>
        <p:txBody>
          <a:bodyPr wrap="square" lIns="0" tIns="0" rIns="0" bIns="0" rtlCol="0" anchor="t"/>
          <a:lstStyle/>
          <a:p>
            <a:pPr indent="0" marL="0">
              <a:buNone/>
            </a:pPr>
            <a:r>
              <a:rPr lang="en-US" sz="2200" b="1" dirty="0">
                <a:solidFill>
                  <a:srgbClr val="C8102E"/>
                </a:solidFill>
                <a:latin typeface="Arial" pitchFamily="34" charset="0"/>
                <a:ea typeface="Arial" pitchFamily="34" charset="-122"/>
                <a:cs typeface="Arial" pitchFamily="34" charset="-120"/>
              </a:rPr>
              <a:t>OPERATIONS PLAN</a:t>
            </a:r>
            <a:endParaRPr lang="en-US" sz="2200" dirty="0"/>
          </a:p>
        </p:txBody>
      </p:sp>
      <p:sp>
        <p:nvSpPr>
          <p:cNvPr id="18" name="Text 16"/>
          <p:cNvSpPr txBox="1"/>
          <p:nvPr/>
        </p:nvSpPr>
        <p:spPr>
          <a:xfrm>
            <a:off x="6190488" y="6839712"/>
            <a:ext cx="731520" cy="365760"/>
          </a:xfrm>
          <a:prstGeom prst="rect">
            <a:avLst/>
          </a:prstGeom>
          <a:noFill/>
          <a:ln/>
        </p:spPr>
        <p:txBody>
          <a:bodyPr wrap="square" lIns="0" tIns="0" rIns="0" bIns="0" rtlCol="0" anchor="t"/>
          <a:lstStyle/>
          <a:p>
            <a:pPr algn="r" indent="0" marL="0">
              <a:buNone/>
            </a:pPr>
            <a:r>
              <a:rPr lang="en-US" sz="1600" i="1" dirty="0">
                <a:solidFill>
                  <a:srgbClr val="C8102E"/>
                </a:solidFill>
                <a:latin typeface="Arial" pitchFamily="34" charset="0"/>
                <a:ea typeface="Arial" pitchFamily="34" charset="-122"/>
                <a:cs typeface="Arial" pitchFamily="34" charset="-120"/>
              </a:rPr>
              <a:t>7</a:t>
            </a:r>
            <a:endParaRPr lang="en-US" sz="1600" dirty="0"/>
          </a:p>
        </p:txBody>
      </p:sp>
      <p:sp>
        <p:nvSpPr>
          <p:cNvPr id="19" name="Shape 17"/>
          <p:cNvSpPr/>
          <p:nvPr/>
        </p:nvSpPr>
        <p:spPr>
          <a:xfrm>
            <a:off x="640080" y="7360920"/>
            <a:ext cx="6281928" cy="0"/>
          </a:xfrm>
          <a:prstGeom prst="line">
            <a:avLst/>
          </a:prstGeom>
          <a:noFill/>
          <a:ln w="12700">
            <a:solidFill>
              <a:srgbClr val="C8102E"/>
            </a:solidFill>
            <a:prstDash val="solid"/>
          </a:ln>
        </p:spPr>
      </p:sp>
      <p:sp>
        <p:nvSpPr>
          <p:cNvPr id="20" name="Text 18"/>
          <p:cNvSpPr txBox="1"/>
          <p:nvPr/>
        </p:nvSpPr>
        <p:spPr>
          <a:xfrm>
            <a:off x="640080" y="7772400"/>
            <a:ext cx="5303520" cy="457200"/>
          </a:xfrm>
          <a:prstGeom prst="rect">
            <a:avLst/>
          </a:prstGeom>
          <a:noFill/>
          <a:ln/>
        </p:spPr>
        <p:txBody>
          <a:bodyPr wrap="square" lIns="0" tIns="0" rIns="0" bIns="0" rtlCol="0" anchor="t"/>
          <a:lstStyle/>
          <a:p>
            <a:pPr indent="0" marL="0">
              <a:buNone/>
            </a:pPr>
            <a:r>
              <a:rPr lang="en-US" sz="2200" b="1" dirty="0">
                <a:solidFill>
                  <a:srgbClr val="C8102E"/>
                </a:solidFill>
                <a:latin typeface="Arial" pitchFamily="34" charset="0"/>
                <a:ea typeface="Arial" pitchFamily="34" charset="-122"/>
                <a:cs typeface="Arial" pitchFamily="34" charset="-120"/>
              </a:rPr>
              <a:t>INVESTMENT AND NEXT STEPS</a:t>
            </a:r>
            <a:endParaRPr lang="en-US" sz="2200" dirty="0"/>
          </a:p>
        </p:txBody>
      </p:sp>
      <p:sp>
        <p:nvSpPr>
          <p:cNvPr id="21" name="Text 19"/>
          <p:cNvSpPr txBox="1"/>
          <p:nvPr/>
        </p:nvSpPr>
        <p:spPr>
          <a:xfrm>
            <a:off x="6190488" y="7845552"/>
            <a:ext cx="731520" cy="365760"/>
          </a:xfrm>
          <a:prstGeom prst="rect">
            <a:avLst/>
          </a:prstGeom>
          <a:noFill/>
          <a:ln/>
        </p:spPr>
        <p:txBody>
          <a:bodyPr wrap="square" lIns="0" tIns="0" rIns="0" bIns="0" rtlCol="0" anchor="t"/>
          <a:lstStyle/>
          <a:p>
            <a:pPr algn="r" indent="0" marL="0">
              <a:buNone/>
            </a:pPr>
            <a:r>
              <a:rPr lang="en-US" sz="1600" i="1" dirty="0">
                <a:solidFill>
                  <a:srgbClr val="C8102E"/>
                </a:solidFill>
                <a:latin typeface="Arial" pitchFamily="34" charset="0"/>
                <a:ea typeface="Arial" pitchFamily="34" charset="-122"/>
                <a:cs typeface="Arial" pitchFamily="34" charset="-120"/>
              </a:rPr>
              <a:t>8</a:t>
            </a:r>
            <a:endParaRPr lang="en-US" sz="1600" dirty="0"/>
          </a:p>
        </p:txBody>
      </p:sp>
      <p:sp>
        <p:nvSpPr>
          <p:cNvPr id="22" name="Shape 20"/>
          <p:cNvSpPr/>
          <p:nvPr/>
        </p:nvSpPr>
        <p:spPr>
          <a:xfrm>
            <a:off x="640080" y="8366760"/>
            <a:ext cx="6281928" cy="0"/>
          </a:xfrm>
          <a:prstGeom prst="line">
            <a:avLst/>
          </a:prstGeom>
          <a:noFill/>
          <a:ln w="12700">
            <a:solidFill>
              <a:srgbClr val="C8102E"/>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0E8"/>
        </a:solidFill>
      </p:bgPr>
    </p:bg>
    <p:spTree>
      <p:nvGrpSpPr>
        <p:cNvPr id="1" name=""/>
        <p:cNvGrpSpPr/>
        <p:nvPr/>
      </p:nvGrpSpPr>
      <p:grpSpPr>
        <a:xfrm>
          <a:off x="0" y="0"/>
          <a:ext cx="0" cy="0"/>
          <a:chOff x="0" y="0"/>
          <a:chExt cx="0" cy="0"/>
        </a:xfrm>
      </p:grpSpPr>
      <p:sp>
        <p:nvSpPr>
          <p:cNvPr id="2" name="Text 0"/>
          <p:cNvSpPr txBox="1"/>
          <p:nvPr/>
        </p:nvSpPr>
        <p:spPr>
          <a:xfrm>
            <a:off x="640080" y="548640"/>
            <a:ext cx="5120640" cy="1554480"/>
          </a:xfrm>
          <a:prstGeom prst="rect">
            <a:avLst/>
          </a:prstGeom>
          <a:noFill/>
          <a:ln/>
        </p:spPr>
        <p:txBody>
          <a:bodyPr wrap="square" lIns="0" tIns="0" rIns="0" bIns="0" rtlCol="0" anchor="t"/>
          <a:lstStyle/>
          <a:p>
            <a:pPr indent="0" marL="0">
              <a:lnSpc>
                <a:spcPct val="90000"/>
              </a:lnSpc>
              <a:buNone/>
            </a:pPr>
            <a:r>
              <a:rPr lang="en-US" sz="4400" b="1" dirty="0">
                <a:solidFill>
                  <a:srgbClr val="C8102E"/>
                </a:solidFill>
                <a:latin typeface="Arial" pitchFamily="34" charset="0"/>
                <a:ea typeface="Arial" pitchFamily="34" charset="-122"/>
                <a:cs typeface="Arial" pitchFamily="34" charset="-120"/>
              </a:rPr>
              <a:t>Executive</a:t>
            </a:r>
            <a:endParaRPr lang="en-US" sz="4400" dirty="0"/>
          </a:p>
          <a:p>
            <a:pPr indent="0" marL="0">
              <a:lnSpc>
                <a:spcPct val="90000"/>
              </a:lnSpc>
              <a:buNone/>
            </a:pPr>
            <a:r>
              <a:rPr lang="en-US" sz="4400" b="1" dirty="0">
                <a:solidFill>
                  <a:srgbClr val="C8102E"/>
                </a:solidFill>
                <a:latin typeface="Arial" pitchFamily="34" charset="0"/>
                <a:ea typeface="Arial" pitchFamily="34" charset="-122"/>
                <a:cs typeface="Arial" pitchFamily="34" charset="-120"/>
              </a:rPr>
              <a:t>Summary</a:t>
            </a:r>
            <a:endParaRPr lang="en-US" sz="4400" dirty="0"/>
          </a:p>
        </p:txBody>
      </p:sp>
      <p:sp>
        <p:nvSpPr>
          <p:cNvPr id="3" name="Shape 1"/>
          <p:cNvSpPr/>
          <p:nvPr/>
        </p:nvSpPr>
        <p:spPr>
          <a:xfrm>
            <a:off x="6400800" y="685800"/>
            <a:ext cx="502920" cy="502920"/>
          </a:xfrm>
          <a:prstGeom prst="star6">
            <a:avLst/>
          </a:prstGeom>
          <a:solidFill>
            <a:srgbClr val="C8102E"/>
          </a:solidFill>
          <a:ln w="12700">
            <a:solidFill>
              <a:srgbClr val="C8102E"/>
            </a:solidFill>
            <a:prstDash val="solid"/>
          </a:ln>
        </p:spPr>
      </p:sp>
      <p:sp>
        <p:nvSpPr>
          <p:cNvPr id="4" name="Shape 2"/>
          <p:cNvSpPr/>
          <p:nvPr/>
        </p:nvSpPr>
        <p:spPr>
          <a:xfrm>
            <a:off x="640080" y="2240280"/>
            <a:ext cx="6281928" cy="0"/>
          </a:xfrm>
          <a:prstGeom prst="line">
            <a:avLst/>
          </a:prstGeom>
          <a:noFill/>
          <a:ln w="38100">
            <a:solidFill>
              <a:srgbClr val="C8102E"/>
            </a:solidFill>
            <a:prstDash val="solid"/>
          </a:ln>
        </p:spPr>
      </p:sp>
      <p:sp>
        <p:nvSpPr>
          <p:cNvPr id="5" name="Text 3"/>
          <p:cNvSpPr txBox="1"/>
          <p:nvPr/>
        </p:nvSpPr>
        <p:spPr>
          <a:xfrm>
            <a:off x="640080" y="2560320"/>
            <a:ext cx="6281928" cy="1188720"/>
          </a:xfrm>
          <a:prstGeom prst="rect">
            <a:avLst/>
          </a:prstGeom>
          <a:noFill/>
          <a:ln/>
        </p:spPr>
        <p:txBody>
          <a:bodyPr wrap="square" lIns="0" tIns="0" rIns="0" bIns="0" rtlCol="0" anchor="t"/>
          <a:lstStyle/>
          <a:p>
            <a:pPr indent="0" marL="0">
              <a:buNone/>
            </a:pPr>
            <a:r>
              <a:rPr lang="en-US" sz="1400" i="1" dirty="0">
                <a:solidFill>
                  <a:srgbClr val="C8102E"/>
                </a:solidFill>
                <a:latin typeface="Arial" pitchFamily="34" charset="0"/>
                <a:ea typeface="Arial" pitchFamily="34" charset="-122"/>
                <a:cs typeface="Arial" pitchFamily="34" charset="-120"/>
              </a:rPr>
              <a:t>This proposal outlines a booking-focused website for Boy Concept, operating as Alpha Movies Ltd. It filters enquiries before they reach WhatsApp, shows the work in a fast, categorized portfolio, and gives corporate and diaspora clients the proof of legitimacy they look for before they book.</a:t>
            </a:r>
            <a:endParaRPr lang="en-US" sz="1400" dirty="0"/>
          </a:p>
        </p:txBody>
      </p:sp>
      <p:sp>
        <p:nvSpPr>
          <p:cNvPr id="6" name="Text 4"/>
          <p:cNvSpPr txBox="1"/>
          <p:nvPr/>
        </p:nvSpPr>
        <p:spPr>
          <a:xfrm>
            <a:off x="640080" y="393192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PROJECT:</a:t>
            </a:r>
            <a:endParaRPr lang="en-US" sz="2000" dirty="0"/>
          </a:p>
        </p:txBody>
      </p:sp>
      <p:sp>
        <p:nvSpPr>
          <p:cNvPr id="7" name="Text 5"/>
          <p:cNvSpPr txBox="1"/>
          <p:nvPr/>
        </p:nvSpPr>
        <p:spPr>
          <a:xfrm>
            <a:off x="640080" y="4297680"/>
            <a:ext cx="6281928" cy="274320"/>
          </a:xfrm>
          <a:prstGeom prst="rect">
            <a:avLst/>
          </a:prstGeom>
          <a:noFill/>
          <a:ln/>
        </p:spPr>
        <p:txBody>
          <a:bodyPr wrap="square" lIns="0" tIns="0" rIns="0" bIns="0" rtlCol="0" anchor="t"/>
          <a:lstStyle/>
          <a:p>
            <a:pPr indent="0" marL="0">
              <a:buNone/>
            </a:pPr>
            <a:r>
              <a:rPr lang="en-US" sz="1400" i="1" dirty="0">
                <a:solidFill>
                  <a:srgbClr val="C8102E"/>
                </a:solidFill>
                <a:latin typeface="Arial" pitchFamily="34" charset="0"/>
                <a:ea typeface="Arial" pitchFamily="34" charset="-122"/>
                <a:cs typeface="Arial" pitchFamily="34" charset="-120"/>
              </a:rPr>
              <a:t>Booking and showcase website for Alpha Movies Ltd</a:t>
            </a:r>
            <a:endParaRPr lang="en-US" sz="1400" dirty="0"/>
          </a:p>
        </p:txBody>
      </p:sp>
      <p:sp>
        <p:nvSpPr>
          <p:cNvPr id="8" name="Text 6"/>
          <p:cNvSpPr txBox="1"/>
          <p:nvPr/>
        </p:nvSpPr>
        <p:spPr>
          <a:xfrm>
            <a:off x="640080" y="484632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PREPARED FOR:</a:t>
            </a:r>
            <a:endParaRPr lang="en-US" sz="2000" dirty="0"/>
          </a:p>
        </p:txBody>
      </p:sp>
      <p:sp>
        <p:nvSpPr>
          <p:cNvPr id="9" name="Text 7"/>
          <p:cNvSpPr txBox="1"/>
          <p:nvPr/>
        </p:nvSpPr>
        <p:spPr>
          <a:xfrm>
            <a:off x="640080" y="5212080"/>
            <a:ext cx="6281928" cy="274320"/>
          </a:xfrm>
          <a:prstGeom prst="rect">
            <a:avLst/>
          </a:prstGeom>
          <a:noFill/>
          <a:ln/>
        </p:spPr>
        <p:txBody>
          <a:bodyPr wrap="square" lIns="0" tIns="0" rIns="0" bIns="0" rtlCol="0" anchor="t"/>
          <a:lstStyle/>
          <a:p>
            <a:pPr indent="0" marL="0">
              <a:buNone/>
            </a:pPr>
            <a:r>
              <a:rPr lang="en-US" sz="1400" i="1" dirty="0">
                <a:solidFill>
                  <a:srgbClr val="C8102E"/>
                </a:solidFill>
                <a:latin typeface="Arial" pitchFamily="34" charset="0"/>
                <a:ea typeface="Arial" pitchFamily="34" charset="-122"/>
                <a:cs typeface="Arial" pitchFamily="34" charset="-120"/>
              </a:rPr>
              <a:t>Emmanuel Feranmi Odeyale, Boy Concept</a:t>
            </a:r>
            <a:endParaRPr lang="en-US" sz="1400" dirty="0"/>
          </a:p>
        </p:txBody>
      </p:sp>
      <p:sp>
        <p:nvSpPr>
          <p:cNvPr id="10" name="Text 8"/>
          <p:cNvSpPr txBox="1"/>
          <p:nvPr/>
        </p:nvSpPr>
        <p:spPr>
          <a:xfrm>
            <a:off x="640080" y="576072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OBJECTIVE:</a:t>
            </a:r>
            <a:endParaRPr lang="en-US" sz="2000" dirty="0"/>
          </a:p>
        </p:txBody>
      </p:sp>
      <p:sp>
        <p:nvSpPr>
          <p:cNvPr id="11" name="Text 9"/>
          <p:cNvSpPr txBox="1"/>
          <p:nvPr/>
        </p:nvSpPr>
        <p:spPr>
          <a:xfrm>
            <a:off x="640080" y="6126480"/>
            <a:ext cx="6281928" cy="548640"/>
          </a:xfrm>
          <a:prstGeom prst="rect">
            <a:avLst/>
          </a:prstGeom>
          <a:noFill/>
          <a:ln/>
        </p:spPr>
        <p:txBody>
          <a:bodyPr wrap="square" lIns="0" tIns="0" rIns="0" bIns="0" rtlCol="0" anchor="t"/>
          <a:lstStyle/>
          <a:p>
            <a:pPr indent="0" marL="0">
              <a:buNone/>
            </a:pPr>
            <a:r>
              <a:rPr lang="en-US" sz="1400" i="1" dirty="0">
                <a:solidFill>
                  <a:srgbClr val="C8102E"/>
                </a:solidFill>
                <a:latin typeface="Arial" pitchFamily="34" charset="0"/>
                <a:ea typeface="Arial" pitchFamily="34" charset="-122"/>
                <a:cs typeface="Arial" pitchFamily="34" charset="-120"/>
              </a:rPr>
              <a:t>Move serious enquiries out of Instagram DMs and into a structured brief, and give new clients a credible place to check before they book.</a:t>
            </a:r>
            <a:endParaRPr lang="en-US" sz="1400" dirty="0"/>
          </a:p>
        </p:txBody>
      </p:sp>
      <p:sp>
        <p:nvSpPr>
          <p:cNvPr id="12" name="Text 10"/>
          <p:cNvSpPr txBox="1"/>
          <p:nvPr/>
        </p:nvSpPr>
        <p:spPr>
          <a:xfrm>
            <a:off x="640080" y="685800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GOALS:</a:t>
            </a:r>
            <a:endParaRPr lang="en-US" sz="2000" dirty="0"/>
          </a:p>
        </p:txBody>
      </p:sp>
      <p:sp>
        <p:nvSpPr>
          <p:cNvPr id="13" name="Text 11"/>
          <p:cNvSpPr txBox="1"/>
          <p:nvPr/>
        </p:nvSpPr>
        <p:spPr>
          <a:xfrm>
            <a:off x="640080" y="7269480"/>
            <a:ext cx="6281928" cy="1645920"/>
          </a:xfrm>
          <a:prstGeom prst="rect">
            <a:avLst/>
          </a:prstGeom>
          <a:noFill/>
          <a:ln/>
        </p:spPr>
        <p:txBody>
          <a:bodyPr wrap="square" lIns="0" tIns="0" rIns="0" bIns="0" rtlCol="0" anchor="t"/>
          <a:lstStyle/>
          <a:p>
            <a:pPr marL="342900" indent="-342900">
              <a:spcAft>
                <a:spcPts val="600"/>
              </a:spcAft>
              <a:buSzPct val="100000"/>
              <a:buChar char="•"/>
            </a:pPr>
            <a:r>
              <a:rPr lang="en-US" sz="1400" i="1" dirty="0">
                <a:solidFill>
                  <a:srgbClr val="C8102E"/>
                </a:solidFill>
                <a:latin typeface="Arial" pitchFamily="34" charset="0"/>
                <a:ea typeface="Arial" pitchFamily="34" charset="-122"/>
                <a:cs typeface="Arial" pitchFamily="34" charset="-120"/>
              </a:rPr>
              <a:t>Date-first enquiry form that captures scope before WhatsApp.</a:t>
            </a:r>
            <a:endParaRPr lang="en-US" sz="1400" dirty="0"/>
          </a:p>
          <a:p>
            <a:pPr marL="342900" indent="-342900">
              <a:spcAft>
                <a:spcPts val="600"/>
              </a:spcAft>
              <a:buSzPct val="100000"/>
              <a:buChar char="•"/>
            </a:pPr>
            <a:r>
              <a:rPr lang="en-US" sz="1400" i="1" dirty="0">
                <a:solidFill>
                  <a:srgbClr val="C8102E"/>
                </a:solidFill>
                <a:latin typeface="Arial" pitchFamily="34" charset="0"/>
                <a:ea typeface="Arial" pitchFamily="34" charset="-122"/>
                <a:cs typeface="Arial" pitchFamily="34" charset="-120"/>
              </a:rPr>
              <a:t>Categorized showreel and portfolio on a fast dark-mode site.</a:t>
            </a:r>
            <a:endParaRPr lang="en-US" sz="1400" dirty="0"/>
          </a:p>
          <a:p>
            <a:pPr marL="342900" indent="-342900">
              <a:spcAft>
                <a:spcPts val="600"/>
              </a:spcAft>
              <a:buSzPct val="100000"/>
              <a:buChar char="•"/>
            </a:pPr>
            <a:r>
              <a:rPr lang="en-US" sz="1400" i="1" dirty="0">
                <a:solidFill>
                  <a:srgbClr val="C8102E"/>
                </a:solidFill>
                <a:latin typeface="Arial" pitchFamily="34" charset="0"/>
                <a:ea typeface="Arial" pitchFamily="34" charset="-122"/>
                <a:cs typeface="Arial" pitchFamily="34" charset="-120"/>
              </a:rPr>
              <a:t>Credentials page that contains verified details only.</a:t>
            </a:r>
            <a:endParaRPr lang="en-US" sz="1400" dirty="0"/>
          </a:p>
          <a:p>
            <a:pPr marL="342900" indent="-342900">
              <a:spcAft>
                <a:spcPts val="600"/>
              </a:spcAft>
              <a:buSzPct val="100000"/>
              <a:buChar char="•"/>
            </a:pPr>
            <a:r>
              <a:rPr lang="en-US" sz="1400" i="1" dirty="0">
                <a:solidFill>
                  <a:srgbClr val="C8102E"/>
                </a:solidFill>
                <a:latin typeface="Arial" pitchFamily="34" charset="0"/>
                <a:ea typeface="Arial" pitchFamily="34" charset="-122"/>
                <a:cs typeface="Arial" pitchFamily="34" charset="-120"/>
              </a:rPr>
              <a:t>Live within [X] weeks of approval.</a:t>
            </a:r>
            <a:endParaRPr lang="en-US" sz="1400" dirty="0"/>
          </a:p>
        </p:txBody>
      </p:sp>
      <p:sp>
        <p:nvSpPr>
          <p:cNvPr id="14" name="Text 12"/>
          <p:cNvSpPr txBox="1"/>
          <p:nvPr/>
        </p:nvSpPr>
        <p:spPr>
          <a:xfrm>
            <a:off x="640080" y="909828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INVESTMENT:</a:t>
            </a:r>
            <a:endParaRPr lang="en-US" sz="2000" dirty="0"/>
          </a:p>
        </p:txBody>
      </p:sp>
      <p:sp>
        <p:nvSpPr>
          <p:cNvPr id="15" name="Text 13"/>
          <p:cNvSpPr txBox="1"/>
          <p:nvPr/>
        </p:nvSpPr>
        <p:spPr>
          <a:xfrm>
            <a:off x="640080" y="9464040"/>
            <a:ext cx="6281928" cy="274320"/>
          </a:xfrm>
          <a:prstGeom prst="rect">
            <a:avLst/>
          </a:prstGeom>
          <a:noFill/>
          <a:ln/>
        </p:spPr>
        <p:txBody>
          <a:bodyPr wrap="square" lIns="0" tIns="0" rIns="0" bIns="0" rtlCol="0" anchor="t"/>
          <a:lstStyle/>
          <a:p>
            <a:pPr indent="0" marL="0">
              <a:buNone/>
            </a:pPr>
            <a:r>
              <a:rPr lang="en-US" sz="1400" i="1" dirty="0">
                <a:solidFill>
                  <a:srgbClr val="C8102E"/>
                </a:solidFill>
                <a:latin typeface="Arial" pitchFamily="34" charset="0"/>
                <a:ea typeface="Arial" pitchFamily="34" charset="-122"/>
                <a:cs typeface="Arial" pitchFamily="34" charset="-120"/>
              </a:rPr>
              <a:t>₦[amount], itemised on page 8</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0E8"/>
        </a:solidFill>
      </p:bgPr>
    </p:bg>
    <p:spTree>
      <p:nvGrpSpPr>
        <p:cNvPr id="1" name=""/>
        <p:cNvGrpSpPr/>
        <p:nvPr/>
      </p:nvGrpSpPr>
      <p:grpSpPr>
        <a:xfrm>
          <a:off x="0" y="0"/>
          <a:ext cx="0" cy="0"/>
          <a:chOff x="0" y="0"/>
          <a:chExt cx="0" cy="0"/>
        </a:xfrm>
      </p:grpSpPr>
      <p:sp>
        <p:nvSpPr>
          <p:cNvPr id="2" name="Text 0"/>
          <p:cNvSpPr txBox="1"/>
          <p:nvPr/>
        </p:nvSpPr>
        <p:spPr>
          <a:xfrm>
            <a:off x="640080" y="548640"/>
            <a:ext cx="5120640" cy="1554480"/>
          </a:xfrm>
          <a:prstGeom prst="rect">
            <a:avLst/>
          </a:prstGeom>
          <a:noFill/>
          <a:ln/>
        </p:spPr>
        <p:txBody>
          <a:bodyPr wrap="square" lIns="0" tIns="0" rIns="0" bIns="0" rtlCol="0" anchor="t"/>
          <a:lstStyle/>
          <a:p>
            <a:pPr indent="0" marL="0">
              <a:lnSpc>
                <a:spcPct val="90000"/>
              </a:lnSpc>
              <a:buNone/>
            </a:pPr>
            <a:r>
              <a:rPr lang="en-US" sz="4400" b="1" dirty="0">
                <a:solidFill>
                  <a:srgbClr val="C8102E"/>
                </a:solidFill>
                <a:latin typeface="Arial" pitchFamily="34" charset="0"/>
                <a:ea typeface="Arial" pitchFamily="34" charset="-122"/>
                <a:cs typeface="Arial" pitchFamily="34" charset="-120"/>
              </a:rPr>
              <a:t>Company</a:t>
            </a:r>
            <a:endParaRPr lang="en-US" sz="4400" dirty="0"/>
          </a:p>
          <a:p>
            <a:pPr indent="0" marL="0">
              <a:lnSpc>
                <a:spcPct val="90000"/>
              </a:lnSpc>
              <a:buNone/>
            </a:pPr>
            <a:r>
              <a:rPr lang="en-US" sz="4400" b="1" dirty="0">
                <a:solidFill>
                  <a:srgbClr val="C8102E"/>
                </a:solidFill>
                <a:latin typeface="Arial" pitchFamily="34" charset="0"/>
                <a:ea typeface="Arial" pitchFamily="34" charset="-122"/>
                <a:cs typeface="Arial" pitchFamily="34" charset="-120"/>
              </a:rPr>
              <a:t>Overview</a:t>
            </a:r>
            <a:endParaRPr lang="en-US" sz="4400" dirty="0"/>
          </a:p>
        </p:txBody>
      </p:sp>
      <p:sp>
        <p:nvSpPr>
          <p:cNvPr id="3" name="Shape 1"/>
          <p:cNvSpPr/>
          <p:nvPr/>
        </p:nvSpPr>
        <p:spPr>
          <a:xfrm>
            <a:off x="6400800" y="685800"/>
            <a:ext cx="502920" cy="502920"/>
          </a:xfrm>
          <a:prstGeom prst="star6">
            <a:avLst/>
          </a:prstGeom>
          <a:solidFill>
            <a:srgbClr val="C8102E"/>
          </a:solidFill>
          <a:ln w="12700">
            <a:solidFill>
              <a:srgbClr val="C8102E"/>
            </a:solidFill>
            <a:prstDash val="solid"/>
          </a:ln>
        </p:spPr>
      </p:sp>
      <p:sp>
        <p:nvSpPr>
          <p:cNvPr id="4" name="Shape 2"/>
          <p:cNvSpPr/>
          <p:nvPr/>
        </p:nvSpPr>
        <p:spPr>
          <a:xfrm>
            <a:off x="640080" y="2240280"/>
            <a:ext cx="6281928" cy="0"/>
          </a:xfrm>
          <a:prstGeom prst="line">
            <a:avLst/>
          </a:prstGeom>
          <a:noFill/>
          <a:ln w="38100">
            <a:solidFill>
              <a:srgbClr val="C8102E"/>
            </a:solidFill>
            <a:prstDash val="solid"/>
          </a:ln>
        </p:spPr>
      </p:sp>
      <p:sp>
        <p:nvSpPr>
          <p:cNvPr id="5" name="Shape 3"/>
          <p:cNvSpPr/>
          <p:nvPr/>
        </p:nvSpPr>
        <p:spPr>
          <a:xfrm>
            <a:off x="640080" y="2560320"/>
            <a:ext cx="6281928" cy="2743200"/>
          </a:xfrm>
          <a:prstGeom prst="roundRect">
            <a:avLst>
              <a:gd name="adj" fmla="val 6667"/>
            </a:avLst>
          </a:prstGeom>
          <a:solidFill>
            <a:srgbClr val="EBCFCF"/>
          </a:solidFill>
          <a:ln w="25400">
            <a:solidFill>
              <a:srgbClr val="C8102E"/>
            </a:solidFill>
            <a:prstDash val="solid"/>
          </a:ln>
        </p:spPr>
      </p:sp>
      <p:sp>
        <p:nvSpPr>
          <p:cNvPr id="6" name="Text 4"/>
          <p:cNvSpPr txBox="1"/>
          <p:nvPr/>
        </p:nvSpPr>
        <p:spPr>
          <a:xfrm>
            <a:off x="640080" y="2560320"/>
            <a:ext cx="6281928" cy="2743200"/>
          </a:xfrm>
          <a:prstGeom prst="rect">
            <a:avLst/>
          </a:prstGeom>
          <a:noFill/>
          <a:ln/>
        </p:spPr>
        <p:txBody>
          <a:bodyPr wrap="square" lIns="0" tIns="0" rIns="0" bIns="0" rtlCol="0" anchor="ctr"/>
          <a:lstStyle/>
          <a:p>
            <a:pPr algn="ctr" indent="0" marL="0">
              <a:buNone/>
            </a:pPr>
            <a:r>
              <a:rPr lang="en-US" sz="1400" i="1" dirty="0">
                <a:solidFill>
                  <a:srgbClr val="C8102E"/>
                </a:solidFill>
                <a:latin typeface="Arial" pitchFamily="34" charset="0"/>
                <a:ea typeface="Arial" pitchFamily="34" charset="-122"/>
                <a:cs typeface="Arial" pitchFamily="34" charset="-120"/>
              </a:rPr>
              <a:t>Replace with a still from the Boy Concept reel</a:t>
            </a:r>
            <a:endParaRPr lang="en-US" sz="1400" dirty="0"/>
          </a:p>
        </p:txBody>
      </p:sp>
      <p:sp>
        <p:nvSpPr>
          <p:cNvPr id="7" name="Text 5"/>
          <p:cNvSpPr txBox="1"/>
          <p:nvPr/>
        </p:nvSpPr>
        <p:spPr>
          <a:xfrm>
            <a:off x="640080" y="5532120"/>
            <a:ext cx="1965960" cy="320040"/>
          </a:xfrm>
          <a:prstGeom prst="rect">
            <a:avLst/>
          </a:prstGeom>
          <a:noFill/>
          <a:ln/>
        </p:spPr>
        <p:txBody>
          <a:bodyPr wrap="square" lIns="0" tIns="0" rIns="0" bIns="0" rtlCol="0" anchor="t"/>
          <a:lstStyle/>
          <a:p>
            <a:pPr indent="0" marL="0">
              <a:buNone/>
            </a:pPr>
            <a:r>
              <a:rPr lang="en-US" sz="1600" b="1" dirty="0">
                <a:solidFill>
                  <a:srgbClr val="C8102E"/>
                </a:solidFill>
                <a:latin typeface="Arial" pitchFamily="34" charset="0"/>
                <a:ea typeface="Arial" pitchFamily="34" charset="-122"/>
                <a:cs typeface="Arial" pitchFamily="34" charset="-120"/>
              </a:rPr>
              <a:t>Legal structure</a:t>
            </a:r>
            <a:endParaRPr lang="en-US" sz="1600" dirty="0"/>
          </a:p>
        </p:txBody>
      </p:sp>
      <p:sp>
        <p:nvSpPr>
          <p:cNvPr id="8" name="Shape 6"/>
          <p:cNvSpPr/>
          <p:nvPr/>
        </p:nvSpPr>
        <p:spPr>
          <a:xfrm>
            <a:off x="640080" y="5897880"/>
            <a:ext cx="1965960" cy="0"/>
          </a:xfrm>
          <a:prstGeom prst="line">
            <a:avLst/>
          </a:prstGeom>
          <a:noFill/>
          <a:ln w="25400">
            <a:solidFill>
              <a:srgbClr val="C8102E"/>
            </a:solidFill>
            <a:prstDash val="solid"/>
          </a:ln>
        </p:spPr>
      </p:sp>
      <p:sp>
        <p:nvSpPr>
          <p:cNvPr id="9" name="Text 7"/>
          <p:cNvSpPr txBox="1"/>
          <p:nvPr/>
        </p:nvSpPr>
        <p:spPr>
          <a:xfrm>
            <a:off x="640080" y="5989320"/>
            <a:ext cx="1965960" cy="91440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Alpha Movies Ltd (formerly [Confirm the trading name])</a:t>
            </a:r>
            <a:endParaRPr lang="en-US" sz="1400" dirty="0"/>
          </a:p>
        </p:txBody>
      </p:sp>
      <p:sp>
        <p:nvSpPr>
          <p:cNvPr id="10" name="Text 8"/>
          <p:cNvSpPr txBox="1"/>
          <p:nvPr/>
        </p:nvSpPr>
        <p:spPr>
          <a:xfrm>
            <a:off x="2798064" y="5532120"/>
            <a:ext cx="1965960" cy="320040"/>
          </a:xfrm>
          <a:prstGeom prst="rect">
            <a:avLst/>
          </a:prstGeom>
          <a:noFill/>
          <a:ln/>
        </p:spPr>
        <p:txBody>
          <a:bodyPr wrap="square" lIns="0" tIns="0" rIns="0" bIns="0" rtlCol="0" anchor="t"/>
          <a:lstStyle/>
          <a:p>
            <a:pPr indent="0" marL="0">
              <a:buNone/>
            </a:pPr>
            <a:r>
              <a:rPr lang="en-US" sz="1600" b="1" dirty="0">
                <a:solidFill>
                  <a:srgbClr val="C8102E"/>
                </a:solidFill>
                <a:latin typeface="Arial" pitchFamily="34" charset="0"/>
                <a:ea typeface="Arial" pitchFamily="34" charset="-122"/>
                <a:cs typeface="Arial" pitchFamily="34" charset="-120"/>
              </a:rPr>
              <a:t>RC number</a:t>
            </a:r>
            <a:endParaRPr lang="en-US" sz="1600" dirty="0"/>
          </a:p>
        </p:txBody>
      </p:sp>
      <p:sp>
        <p:nvSpPr>
          <p:cNvPr id="11" name="Shape 9"/>
          <p:cNvSpPr/>
          <p:nvPr/>
        </p:nvSpPr>
        <p:spPr>
          <a:xfrm>
            <a:off x="2798064" y="5897880"/>
            <a:ext cx="1965960" cy="0"/>
          </a:xfrm>
          <a:prstGeom prst="line">
            <a:avLst/>
          </a:prstGeom>
          <a:noFill/>
          <a:ln w="25400">
            <a:solidFill>
              <a:srgbClr val="C8102E"/>
            </a:solidFill>
            <a:prstDash val="solid"/>
          </a:ln>
        </p:spPr>
      </p:sp>
      <p:sp>
        <p:nvSpPr>
          <p:cNvPr id="12" name="Text 10"/>
          <p:cNvSpPr txBox="1"/>
          <p:nvPr/>
        </p:nvSpPr>
        <p:spPr>
          <a:xfrm>
            <a:off x="2798064" y="5989320"/>
            <a:ext cx="1965960" cy="91440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[Confirm on CAC public search]</a:t>
            </a:r>
            <a:endParaRPr lang="en-US" sz="1400" dirty="0"/>
          </a:p>
        </p:txBody>
      </p:sp>
      <p:sp>
        <p:nvSpPr>
          <p:cNvPr id="13" name="Text 11"/>
          <p:cNvSpPr txBox="1"/>
          <p:nvPr/>
        </p:nvSpPr>
        <p:spPr>
          <a:xfrm>
            <a:off x="4956048" y="5532120"/>
            <a:ext cx="1965960" cy="320040"/>
          </a:xfrm>
          <a:prstGeom prst="rect">
            <a:avLst/>
          </a:prstGeom>
          <a:noFill/>
          <a:ln/>
        </p:spPr>
        <p:txBody>
          <a:bodyPr wrap="square" lIns="0" tIns="0" rIns="0" bIns="0" rtlCol="0" anchor="t"/>
          <a:lstStyle/>
          <a:p>
            <a:pPr indent="0" marL="0">
              <a:buNone/>
            </a:pPr>
            <a:r>
              <a:rPr lang="en-US" sz="1600" b="1" dirty="0">
                <a:solidFill>
                  <a:srgbClr val="C8102E"/>
                </a:solidFill>
                <a:latin typeface="Arial" pitchFamily="34" charset="0"/>
                <a:ea typeface="Arial" pitchFamily="34" charset="-122"/>
                <a:cs typeface="Arial" pitchFamily="34" charset="-120"/>
              </a:rPr>
              <a:t>Founder</a:t>
            </a:r>
            <a:endParaRPr lang="en-US" sz="1600" dirty="0"/>
          </a:p>
        </p:txBody>
      </p:sp>
      <p:sp>
        <p:nvSpPr>
          <p:cNvPr id="14" name="Shape 12"/>
          <p:cNvSpPr/>
          <p:nvPr/>
        </p:nvSpPr>
        <p:spPr>
          <a:xfrm>
            <a:off x="4956048" y="5897880"/>
            <a:ext cx="1965960" cy="0"/>
          </a:xfrm>
          <a:prstGeom prst="line">
            <a:avLst/>
          </a:prstGeom>
          <a:noFill/>
          <a:ln w="25400">
            <a:solidFill>
              <a:srgbClr val="C8102E"/>
            </a:solidFill>
            <a:prstDash val="solid"/>
          </a:ln>
        </p:spPr>
      </p:sp>
      <p:sp>
        <p:nvSpPr>
          <p:cNvPr id="15" name="Text 13"/>
          <p:cNvSpPr txBox="1"/>
          <p:nvPr/>
        </p:nvSpPr>
        <p:spPr>
          <a:xfrm>
            <a:off x="4956048" y="5989320"/>
            <a:ext cx="1965960" cy="91440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Emmanuel Feranmi Odeyale</a:t>
            </a:r>
            <a:endParaRPr lang="en-US" sz="1400" dirty="0"/>
          </a:p>
        </p:txBody>
      </p:sp>
      <p:sp>
        <p:nvSpPr>
          <p:cNvPr id="16" name="Text 14"/>
          <p:cNvSpPr txBox="1"/>
          <p:nvPr/>
        </p:nvSpPr>
        <p:spPr>
          <a:xfrm>
            <a:off x="640080" y="6995160"/>
            <a:ext cx="1965960" cy="320040"/>
          </a:xfrm>
          <a:prstGeom prst="rect">
            <a:avLst/>
          </a:prstGeom>
          <a:noFill/>
          <a:ln/>
        </p:spPr>
        <p:txBody>
          <a:bodyPr wrap="square" lIns="0" tIns="0" rIns="0" bIns="0" rtlCol="0" anchor="t"/>
          <a:lstStyle/>
          <a:p>
            <a:pPr indent="0" marL="0">
              <a:buNone/>
            </a:pPr>
            <a:r>
              <a:rPr lang="en-US" sz="1600" b="1" dirty="0">
                <a:solidFill>
                  <a:srgbClr val="C8102E"/>
                </a:solidFill>
                <a:latin typeface="Arial" pitchFamily="34" charset="0"/>
                <a:ea typeface="Arial" pitchFamily="34" charset="-122"/>
                <a:cs typeface="Arial" pitchFamily="34" charset="-120"/>
              </a:rPr>
              <a:t>Services</a:t>
            </a:r>
            <a:endParaRPr lang="en-US" sz="1600" dirty="0"/>
          </a:p>
        </p:txBody>
      </p:sp>
      <p:sp>
        <p:nvSpPr>
          <p:cNvPr id="17" name="Shape 15"/>
          <p:cNvSpPr/>
          <p:nvPr/>
        </p:nvSpPr>
        <p:spPr>
          <a:xfrm>
            <a:off x="640080" y="7360920"/>
            <a:ext cx="1965960" cy="0"/>
          </a:xfrm>
          <a:prstGeom prst="line">
            <a:avLst/>
          </a:prstGeom>
          <a:noFill/>
          <a:ln w="25400">
            <a:solidFill>
              <a:srgbClr val="C8102E"/>
            </a:solidFill>
            <a:prstDash val="solid"/>
          </a:ln>
        </p:spPr>
      </p:sp>
      <p:sp>
        <p:nvSpPr>
          <p:cNvPr id="18" name="Text 16"/>
          <p:cNvSpPr txBox="1"/>
          <p:nvPr/>
        </p:nvSpPr>
        <p:spPr>
          <a:xfrm>
            <a:off x="640080" y="7452360"/>
            <a:ext cx="1965960" cy="91440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Festival coverage, documentaries, weddings and event reels, brand ads</a:t>
            </a:r>
            <a:endParaRPr lang="en-US" sz="1400" dirty="0"/>
          </a:p>
        </p:txBody>
      </p:sp>
      <p:sp>
        <p:nvSpPr>
          <p:cNvPr id="19" name="Text 17"/>
          <p:cNvSpPr txBox="1"/>
          <p:nvPr/>
        </p:nvSpPr>
        <p:spPr>
          <a:xfrm>
            <a:off x="2798064" y="6995160"/>
            <a:ext cx="1965960" cy="320040"/>
          </a:xfrm>
          <a:prstGeom prst="rect">
            <a:avLst/>
          </a:prstGeom>
          <a:noFill/>
          <a:ln/>
        </p:spPr>
        <p:txBody>
          <a:bodyPr wrap="square" lIns="0" tIns="0" rIns="0" bIns="0" rtlCol="0" anchor="t"/>
          <a:lstStyle/>
          <a:p>
            <a:pPr indent="0" marL="0">
              <a:buNone/>
            </a:pPr>
            <a:r>
              <a:rPr lang="en-US" sz="1600" b="1" dirty="0">
                <a:solidFill>
                  <a:srgbClr val="C8102E"/>
                </a:solidFill>
                <a:latin typeface="Arial" pitchFamily="34" charset="0"/>
                <a:ea typeface="Arial" pitchFamily="34" charset="-122"/>
                <a:cs typeface="Arial" pitchFamily="34" charset="-120"/>
              </a:rPr>
              <a:t>Base</a:t>
            </a:r>
            <a:endParaRPr lang="en-US" sz="1600" dirty="0"/>
          </a:p>
        </p:txBody>
      </p:sp>
      <p:sp>
        <p:nvSpPr>
          <p:cNvPr id="20" name="Shape 18"/>
          <p:cNvSpPr/>
          <p:nvPr/>
        </p:nvSpPr>
        <p:spPr>
          <a:xfrm>
            <a:off x="2798064" y="7360920"/>
            <a:ext cx="1965960" cy="0"/>
          </a:xfrm>
          <a:prstGeom prst="line">
            <a:avLst/>
          </a:prstGeom>
          <a:noFill/>
          <a:ln w="25400">
            <a:solidFill>
              <a:srgbClr val="C8102E"/>
            </a:solidFill>
            <a:prstDash val="solid"/>
          </a:ln>
        </p:spPr>
      </p:sp>
      <p:sp>
        <p:nvSpPr>
          <p:cNvPr id="21" name="Text 19"/>
          <p:cNvSpPr txBox="1"/>
          <p:nvPr/>
        </p:nvSpPr>
        <p:spPr>
          <a:xfrm>
            <a:off x="2798064" y="7452360"/>
            <a:ext cx="1965960" cy="91440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[Confirm city]</a:t>
            </a:r>
            <a:endParaRPr lang="en-US" sz="1400" dirty="0"/>
          </a:p>
        </p:txBody>
      </p:sp>
      <p:sp>
        <p:nvSpPr>
          <p:cNvPr id="22" name="Text 20"/>
          <p:cNvSpPr txBox="1"/>
          <p:nvPr/>
        </p:nvSpPr>
        <p:spPr>
          <a:xfrm>
            <a:off x="4956048" y="6995160"/>
            <a:ext cx="1965960" cy="320040"/>
          </a:xfrm>
          <a:prstGeom prst="rect">
            <a:avLst/>
          </a:prstGeom>
          <a:noFill/>
          <a:ln/>
        </p:spPr>
        <p:txBody>
          <a:bodyPr wrap="square" lIns="0" tIns="0" rIns="0" bIns="0" rtlCol="0" anchor="t"/>
          <a:lstStyle/>
          <a:p>
            <a:pPr indent="0" marL="0">
              <a:buNone/>
            </a:pPr>
            <a:r>
              <a:rPr lang="en-US" sz="1600" b="1" dirty="0">
                <a:solidFill>
                  <a:srgbClr val="C8102E"/>
                </a:solidFill>
                <a:latin typeface="Arial" pitchFamily="34" charset="0"/>
                <a:ea typeface="Arial" pitchFamily="34" charset="-122"/>
                <a:cs typeface="Arial" pitchFamily="34" charset="-120"/>
              </a:rPr>
              <a:t>Channels</a:t>
            </a:r>
            <a:endParaRPr lang="en-US" sz="1600" dirty="0"/>
          </a:p>
        </p:txBody>
      </p:sp>
      <p:sp>
        <p:nvSpPr>
          <p:cNvPr id="23" name="Shape 21"/>
          <p:cNvSpPr/>
          <p:nvPr/>
        </p:nvSpPr>
        <p:spPr>
          <a:xfrm>
            <a:off x="4956048" y="7360920"/>
            <a:ext cx="1965960" cy="0"/>
          </a:xfrm>
          <a:prstGeom prst="line">
            <a:avLst/>
          </a:prstGeom>
          <a:noFill/>
          <a:ln w="25400">
            <a:solidFill>
              <a:srgbClr val="C8102E"/>
            </a:solidFill>
            <a:prstDash val="solid"/>
          </a:ln>
        </p:spPr>
      </p:sp>
      <p:sp>
        <p:nvSpPr>
          <p:cNvPr id="24" name="Text 22"/>
          <p:cNvSpPr txBox="1"/>
          <p:nvPr/>
        </p:nvSpPr>
        <p:spPr>
          <a:xfrm>
            <a:off x="4956048" y="7452360"/>
            <a:ext cx="1965960" cy="91440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Instagram and YouTube [Confirm both handles]</a:t>
            </a:r>
            <a:endParaRPr lang="en-US" sz="1400" dirty="0"/>
          </a:p>
        </p:txBody>
      </p:sp>
      <p:sp>
        <p:nvSpPr>
          <p:cNvPr id="25" name="Shape 23"/>
          <p:cNvSpPr/>
          <p:nvPr/>
        </p:nvSpPr>
        <p:spPr>
          <a:xfrm>
            <a:off x="0" y="8595360"/>
            <a:ext cx="7562088" cy="2093976"/>
          </a:xfrm>
          <a:prstGeom prst="rect">
            <a:avLst/>
          </a:prstGeom>
          <a:solidFill>
            <a:srgbClr val="C8102E"/>
          </a:solidFill>
          <a:ln w="12700">
            <a:solidFill>
              <a:srgbClr val="C8102E"/>
            </a:solidFill>
            <a:prstDash val="solid"/>
          </a:ln>
        </p:spPr>
      </p:sp>
      <p:sp>
        <p:nvSpPr>
          <p:cNvPr id="26" name="Text 24"/>
          <p:cNvSpPr txBox="1"/>
          <p:nvPr/>
        </p:nvSpPr>
        <p:spPr>
          <a:xfrm>
            <a:off x="640080" y="8823960"/>
            <a:ext cx="6281928" cy="36576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Strengths:</a:t>
            </a:r>
            <a:endParaRPr lang="en-US" sz="2000" dirty="0"/>
          </a:p>
        </p:txBody>
      </p:sp>
      <p:sp>
        <p:nvSpPr>
          <p:cNvPr id="27" name="Text 25"/>
          <p:cNvSpPr/>
          <p:nvPr/>
        </p:nvSpPr>
        <p:spPr>
          <a:xfrm>
            <a:off x="640080" y="9326880"/>
            <a:ext cx="3017520" cy="411480"/>
          </a:xfrm>
          <a:prstGeom prst="roundRect">
            <a:avLst>
              <a:gd name="adj" fmla="val 48889"/>
            </a:avLst>
          </a:prstGeom>
          <a:solidFill>
            <a:srgbClr val="F4F0E8"/>
          </a:solidFill>
          <a:ln>
            <a:solidFill>
              <a:srgbClr val="F4F0E8"/>
            </a:solidFill>
          </a:ln>
        </p:spPr>
        <p:txBody>
          <a:bodyPr wrap="square" lIns="0" tIns="0" rIns="0" bIns="0" rtlCol="0" anchor="ctr"/>
          <a:lstStyle/>
          <a:p>
            <a:pPr algn="ctr" indent="0" marL="0">
              <a:buNone/>
            </a:pPr>
            <a:r>
              <a:rPr lang="en-US" sz="1400" b="1" dirty="0">
                <a:solidFill>
                  <a:srgbClr val="C8102E"/>
                </a:solidFill>
                <a:latin typeface="Arial" pitchFamily="34" charset="0"/>
                <a:ea typeface="Arial" pitchFamily="34" charset="-122"/>
                <a:cs typeface="Arial" pitchFamily="34" charset="-120"/>
              </a:rPr>
              <a:t>High-energy edits</a:t>
            </a:r>
            <a:endParaRPr lang="en-US" sz="1400" dirty="0"/>
          </a:p>
        </p:txBody>
      </p:sp>
      <p:sp>
        <p:nvSpPr>
          <p:cNvPr id="28" name="Text 26"/>
          <p:cNvSpPr/>
          <p:nvPr/>
        </p:nvSpPr>
        <p:spPr>
          <a:xfrm>
            <a:off x="3904488" y="9326880"/>
            <a:ext cx="3017520" cy="411480"/>
          </a:xfrm>
          <a:prstGeom prst="roundRect">
            <a:avLst>
              <a:gd name="adj" fmla="val 48889"/>
            </a:avLst>
          </a:prstGeom>
          <a:solidFill>
            <a:srgbClr val="F4F0E8"/>
          </a:solidFill>
          <a:ln>
            <a:solidFill>
              <a:srgbClr val="F4F0E8"/>
            </a:solidFill>
          </a:ln>
        </p:spPr>
        <p:txBody>
          <a:bodyPr wrap="square" lIns="0" tIns="0" rIns="0" bIns="0" rtlCol="0" anchor="ctr"/>
          <a:lstStyle/>
          <a:p>
            <a:pPr algn="ctr" indent="0" marL="0">
              <a:buNone/>
            </a:pPr>
            <a:r>
              <a:rPr lang="en-US" sz="1400" b="1" dirty="0">
                <a:solidFill>
                  <a:srgbClr val="C8102E"/>
                </a:solidFill>
                <a:latin typeface="Arial" pitchFamily="34" charset="0"/>
                <a:ea typeface="Arial" pitchFamily="34" charset="-122"/>
                <a:cs typeface="Arial" pitchFamily="34" charset="-120"/>
              </a:rPr>
              <a:t>Cinematic drone work</a:t>
            </a:r>
            <a:endParaRPr lang="en-US" sz="1400" dirty="0"/>
          </a:p>
        </p:txBody>
      </p:sp>
      <p:sp>
        <p:nvSpPr>
          <p:cNvPr id="29" name="Text 27"/>
          <p:cNvSpPr/>
          <p:nvPr/>
        </p:nvSpPr>
        <p:spPr>
          <a:xfrm>
            <a:off x="640080" y="9875520"/>
            <a:ext cx="3017520" cy="411480"/>
          </a:xfrm>
          <a:prstGeom prst="roundRect">
            <a:avLst>
              <a:gd name="adj" fmla="val 48889"/>
            </a:avLst>
          </a:prstGeom>
          <a:solidFill>
            <a:srgbClr val="F4F0E8"/>
          </a:solidFill>
          <a:ln>
            <a:solidFill>
              <a:srgbClr val="F4F0E8"/>
            </a:solidFill>
          </a:ln>
        </p:spPr>
        <p:txBody>
          <a:bodyPr wrap="square" lIns="0" tIns="0" rIns="0" bIns="0" rtlCol="0" anchor="ctr"/>
          <a:lstStyle/>
          <a:p>
            <a:pPr algn="ctr" indent="0" marL="0">
              <a:buNone/>
            </a:pPr>
            <a:r>
              <a:rPr lang="en-US" sz="1400" b="1" dirty="0">
                <a:solidFill>
                  <a:srgbClr val="C8102E"/>
                </a:solidFill>
                <a:latin typeface="Arial" pitchFamily="34" charset="0"/>
                <a:ea typeface="Arial" pitchFamily="34" charset="-122"/>
                <a:cs typeface="Arial" pitchFamily="34" charset="-120"/>
              </a:rPr>
              <a:t>Cultural documentation</a:t>
            </a:r>
            <a:endParaRPr lang="en-US" sz="1400" dirty="0"/>
          </a:p>
        </p:txBody>
      </p:sp>
      <p:sp>
        <p:nvSpPr>
          <p:cNvPr id="30" name="Text 28"/>
          <p:cNvSpPr/>
          <p:nvPr/>
        </p:nvSpPr>
        <p:spPr>
          <a:xfrm>
            <a:off x="3904488" y="9875520"/>
            <a:ext cx="3017520" cy="411480"/>
          </a:xfrm>
          <a:prstGeom prst="roundRect">
            <a:avLst>
              <a:gd name="adj" fmla="val 48889"/>
            </a:avLst>
          </a:prstGeom>
          <a:solidFill>
            <a:srgbClr val="F4F0E8"/>
          </a:solidFill>
          <a:ln>
            <a:solidFill>
              <a:srgbClr val="F4F0E8"/>
            </a:solidFill>
          </a:ln>
        </p:spPr>
        <p:txBody>
          <a:bodyPr wrap="square" lIns="0" tIns="0" rIns="0" bIns="0" rtlCol="0" anchor="ctr"/>
          <a:lstStyle/>
          <a:p>
            <a:pPr algn="ctr" indent="0" marL="0">
              <a:buNone/>
            </a:pPr>
            <a:r>
              <a:rPr lang="en-US" sz="1400" b="1" dirty="0">
                <a:solidFill>
                  <a:srgbClr val="C8102E"/>
                </a:solidFill>
                <a:latin typeface="Arial" pitchFamily="34" charset="0"/>
                <a:ea typeface="Arial" pitchFamily="34" charset="-122"/>
                <a:cs typeface="Arial" pitchFamily="34" charset="-120"/>
              </a:rPr>
              <a:t>Festival coverage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8"/>
        </a:solidFill>
      </p:bgPr>
    </p:bg>
    <p:spTree>
      <p:nvGrpSpPr>
        <p:cNvPr id="1" name=""/>
        <p:cNvGrpSpPr/>
        <p:nvPr/>
      </p:nvGrpSpPr>
      <p:grpSpPr>
        <a:xfrm>
          <a:off x="0" y="0"/>
          <a:ext cx="0" cy="0"/>
          <a:chOff x="0" y="0"/>
          <a:chExt cx="0" cy="0"/>
        </a:xfrm>
      </p:grpSpPr>
      <p:sp>
        <p:nvSpPr>
          <p:cNvPr id="2" name="Text 0"/>
          <p:cNvSpPr txBox="1"/>
          <p:nvPr/>
        </p:nvSpPr>
        <p:spPr>
          <a:xfrm>
            <a:off x="640080" y="548640"/>
            <a:ext cx="5120640" cy="1554480"/>
          </a:xfrm>
          <a:prstGeom prst="rect">
            <a:avLst/>
          </a:prstGeom>
          <a:noFill/>
          <a:ln/>
        </p:spPr>
        <p:txBody>
          <a:bodyPr wrap="square" lIns="0" tIns="0" rIns="0" bIns="0" rtlCol="0" anchor="t"/>
          <a:lstStyle/>
          <a:p>
            <a:pPr indent="0" marL="0">
              <a:lnSpc>
                <a:spcPct val="90000"/>
              </a:lnSpc>
              <a:buNone/>
            </a:pPr>
            <a:r>
              <a:rPr lang="en-US" sz="4400" b="1" dirty="0">
                <a:solidFill>
                  <a:srgbClr val="C8102E"/>
                </a:solidFill>
                <a:latin typeface="Arial" pitchFamily="34" charset="0"/>
                <a:ea typeface="Arial" pitchFamily="34" charset="-122"/>
                <a:cs typeface="Arial" pitchFamily="34" charset="-120"/>
              </a:rPr>
              <a:t>Market</a:t>
            </a:r>
            <a:endParaRPr lang="en-US" sz="4400" dirty="0"/>
          </a:p>
          <a:p>
            <a:pPr indent="0" marL="0">
              <a:lnSpc>
                <a:spcPct val="90000"/>
              </a:lnSpc>
              <a:buNone/>
            </a:pPr>
            <a:r>
              <a:rPr lang="en-US" sz="4400" b="1" dirty="0">
                <a:solidFill>
                  <a:srgbClr val="C8102E"/>
                </a:solidFill>
                <a:latin typeface="Arial" pitchFamily="34" charset="0"/>
                <a:ea typeface="Arial" pitchFamily="34" charset="-122"/>
                <a:cs typeface="Arial" pitchFamily="34" charset="-120"/>
              </a:rPr>
              <a:t>Analysis</a:t>
            </a:r>
            <a:endParaRPr lang="en-US" sz="4400" dirty="0"/>
          </a:p>
        </p:txBody>
      </p:sp>
      <p:sp>
        <p:nvSpPr>
          <p:cNvPr id="3" name="Shape 1"/>
          <p:cNvSpPr/>
          <p:nvPr/>
        </p:nvSpPr>
        <p:spPr>
          <a:xfrm>
            <a:off x="6400800" y="685800"/>
            <a:ext cx="502920" cy="502920"/>
          </a:xfrm>
          <a:prstGeom prst="star6">
            <a:avLst/>
          </a:prstGeom>
          <a:solidFill>
            <a:srgbClr val="C8102E"/>
          </a:solidFill>
          <a:ln w="12700">
            <a:solidFill>
              <a:srgbClr val="C8102E"/>
            </a:solidFill>
            <a:prstDash val="solid"/>
          </a:ln>
        </p:spPr>
      </p:sp>
      <p:sp>
        <p:nvSpPr>
          <p:cNvPr id="4" name="Shape 2"/>
          <p:cNvSpPr/>
          <p:nvPr/>
        </p:nvSpPr>
        <p:spPr>
          <a:xfrm>
            <a:off x="640080" y="2240280"/>
            <a:ext cx="6281928" cy="0"/>
          </a:xfrm>
          <a:prstGeom prst="line">
            <a:avLst/>
          </a:prstGeom>
          <a:noFill/>
          <a:ln w="38100">
            <a:solidFill>
              <a:srgbClr val="C8102E"/>
            </a:solidFill>
            <a:prstDash val="solid"/>
          </a:ln>
        </p:spPr>
      </p:sp>
      <p:sp>
        <p:nvSpPr>
          <p:cNvPr id="5" name="Text 3"/>
          <p:cNvSpPr txBox="1"/>
          <p:nvPr/>
        </p:nvSpPr>
        <p:spPr>
          <a:xfrm>
            <a:off x="640080" y="256032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INDUSTRY OVERVIEW</a:t>
            </a:r>
            <a:endParaRPr lang="en-US" sz="2000" dirty="0"/>
          </a:p>
        </p:txBody>
      </p:sp>
      <p:sp>
        <p:nvSpPr>
          <p:cNvPr id="6" name="Text 4"/>
          <p:cNvSpPr txBox="1"/>
          <p:nvPr/>
        </p:nvSpPr>
        <p:spPr>
          <a:xfrm>
            <a:off x="640080" y="2971800"/>
            <a:ext cx="6281928" cy="128016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High-end videographers receive most enquiries through Instagram DMs. Many are price checks, such as "how much for 1 video?", and each one costs time that could go to paid work. Serious clients, especially corporate brands and diaspora couples, also want proof of legitimacy beyond an Instagram bio before they commit.</a:t>
            </a:r>
            <a:endParaRPr lang="en-US" sz="1400" dirty="0"/>
          </a:p>
        </p:txBody>
      </p:sp>
      <p:sp>
        <p:nvSpPr>
          <p:cNvPr id="7" name="Text 5"/>
          <p:cNvSpPr txBox="1"/>
          <p:nvPr/>
        </p:nvSpPr>
        <p:spPr>
          <a:xfrm>
            <a:off x="640080" y="452628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WHO THE SITE SERVES</a:t>
            </a:r>
            <a:endParaRPr lang="en-US" sz="2000" dirty="0"/>
          </a:p>
        </p:txBody>
      </p:sp>
      <p:sp>
        <p:nvSpPr>
          <p:cNvPr id="8" name="Text 6"/>
          <p:cNvSpPr/>
          <p:nvPr/>
        </p:nvSpPr>
        <p:spPr>
          <a:xfrm>
            <a:off x="640080" y="5029200"/>
            <a:ext cx="3017520" cy="1645920"/>
          </a:xfrm>
          <a:prstGeom prst="roundRect">
            <a:avLst>
              <a:gd name="adj" fmla="val 13889"/>
            </a:avLst>
          </a:prstGeom>
          <a:solidFill>
            <a:srgbClr val="C8102E"/>
          </a:solidFill>
          <a:ln>
            <a:solidFill>
              <a:srgbClr val="C8102E"/>
            </a:solidFill>
          </a:ln>
        </p:spPr>
        <p:txBody>
          <a:bodyPr wrap="square" lIns="2540" tIns="2540" rIns="2540" bIns="2540" rtlCol="0" anchor="ctr"/>
          <a:lstStyle/>
          <a:p>
            <a:pPr algn="l" indent="0" marL="0">
              <a:spcAft>
                <a:spcPts val="400"/>
              </a:spcAft>
              <a:buNone/>
            </a:pPr>
            <a:r>
              <a:rPr lang="en-US" sz="1400" b="1" dirty="0">
                <a:solidFill>
                  <a:srgbClr val="FFFFFF"/>
                </a:solidFill>
                <a:latin typeface="Arial" pitchFamily="34" charset="0"/>
                <a:ea typeface="Arial" pitchFamily="34" charset="-122"/>
                <a:cs typeface="Arial" pitchFamily="34" charset="-120"/>
              </a:rPr>
              <a:t>EVENT AND WEDDING CLIENTS</a:t>
            </a:r>
            <a:endParaRPr lang="en-US" sz="1400" dirty="0"/>
          </a:p>
          <a:p>
            <a:pPr algn="l" indent="0" marL="0">
              <a:spcAft>
                <a:spcPts val="400"/>
              </a:spcAft>
              <a:buNone/>
            </a:pPr>
            <a:r>
              <a:rPr lang="en-US" sz="1400" i="1" dirty="0">
                <a:solidFill>
                  <a:srgbClr val="FFFFFF"/>
                </a:solidFill>
                <a:latin typeface="Arial" pitchFamily="34" charset="0"/>
                <a:ea typeface="Arial" pitchFamily="34" charset="-122"/>
                <a:cs typeface="Arial" pitchFamily="34" charset="-120"/>
              </a:rPr>
              <a:t>Need a clear way to share date, venue and scope.</a:t>
            </a:r>
            <a:endParaRPr lang="en-US" sz="1400" dirty="0"/>
          </a:p>
        </p:txBody>
      </p:sp>
      <p:sp>
        <p:nvSpPr>
          <p:cNvPr id="9" name="Text 7"/>
          <p:cNvSpPr/>
          <p:nvPr/>
        </p:nvSpPr>
        <p:spPr>
          <a:xfrm>
            <a:off x="3904488" y="5029200"/>
            <a:ext cx="3017520" cy="1645920"/>
          </a:xfrm>
          <a:prstGeom prst="roundRect">
            <a:avLst>
              <a:gd name="adj" fmla="val 13889"/>
            </a:avLst>
          </a:prstGeom>
          <a:solidFill>
            <a:srgbClr val="C8102E"/>
          </a:solidFill>
          <a:ln>
            <a:solidFill>
              <a:srgbClr val="C8102E"/>
            </a:solidFill>
          </a:ln>
        </p:spPr>
        <p:txBody>
          <a:bodyPr wrap="square" lIns="2540" tIns="2540" rIns="2540" bIns="2540" rtlCol="0" anchor="ctr"/>
          <a:lstStyle/>
          <a:p>
            <a:pPr algn="l" indent="0" marL="0">
              <a:spcAft>
                <a:spcPts val="400"/>
              </a:spcAft>
              <a:buNone/>
            </a:pPr>
            <a:r>
              <a:rPr lang="en-US" sz="1400" b="1" dirty="0">
                <a:solidFill>
                  <a:srgbClr val="FFFFFF"/>
                </a:solidFill>
                <a:latin typeface="Arial" pitchFamily="34" charset="0"/>
                <a:ea typeface="Arial" pitchFamily="34" charset="-122"/>
                <a:cs typeface="Arial" pitchFamily="34" charset="-120"/>
              </a:rPr>
              <a:t>CORPORATE AND BRAND CLIENTS</a:t>
            </a:r>
            <a:endParaRPr lang="en-US" sz="1400" dirty="0"/>
          </a:p>
          <a:p>
            <a:pPr algn="l" indent="0" marL="0">
              <a:spcAft>
                <a:spcPts val="400"/>
              </a:spcAft>
              <a:buNone/>
            </a:pPr>
            <a:r>
              <a:rPr lang="en-US" sz="1400" i="1" dirty="0">
                <a:solidFill>
                  <a:srgbClr val="FFFFFF"/>
                </a:solidFill>
                <a:latin typeface="Arial" pitchFamily="34" charset="0"/>
                <a:ea typeface="Arial" pitchFamily="34" charset="-122"/>
                <a:cs typeface="Arial" pitchFamily="34" charset="-120"/>
              </a:rPr>
              <a:t>Need proof of registration, kit and past work.</a:t>
            </a:r>
            <a:endParaRPr lang="en-US" sz="1400" dirty="0"/>
          </a:p>
        </p:txBody>
      </p:sp>
      <p:sp>
        <p:nvSpPr>
          <p:cNvPr id="10" name="Text 8"/>
          <p:cNvSpPr/>
          <p:nvPr/>
        </p:nvSpPr>
        <p:spPr>
          <a:xfrm>
            <a:off x="2272284" y="6949440"/>
            <a:ext cx="3017520" cy="1645920"/>
          </a:xfrm>
          <a:prstGeom prst="roundRect">
            <a:avLst>
              <a:gd name="adj" fmla="val 13889"/>
            </a:avLst>
          </a:prstGeom>
          <a:solidFill>
            <a:srgbClr val="C8102E"/>
          </a:solidFill>
          <a:ln>
            <a:solidFill>
              <a:srgbClr val="C8102E"/>
            </a:solidFill>
          </a:ln>
        </p:spPr>
        <p:txBody>
          <a:bodyPr wrap="square" lIns="2540" tIns="2540" rIns="2540" bIns="2540" rtlCol="0" anchor="ctr"/>
          <a:lstStyle/>
          <a:p>
            <a:pPr algn="l" indent="0" marL="0">
              <a:spcAft>
                <a:spcPts val="400"/>
              </a:spcAft>
              <a:buNone/>
            </a:pPr>
            <a:r>
              <a:rPr lang="en-US" sz="1400" b="1" dirty="0">
                <a:solidFill>
                  <a:srgbClr val="FFFFFF"/>
                </a:solidFill>
                <a:latin typeface="Arial" pitchFamily="34" charset="0"/>
                <a:ea typeface="Arial" pitchFamily="34" charset="-122"/>
                <a:cs typeface="Arial" pitchFamily="34" charset="-120"/>
              </a:rPr>
              <a:t>DIASPORA WEDDING CLIENTS</a:t>
            </a:r>
            <a:endParaRPr lang="en-US" sz="1400" dirty="0"/>
          </a:p>
          <a:p>
            <a:pPr algn="l" indent="0" marL="0">
              <a:spcAft>
                <a:spcPts val="400"/>
              </a:spcAft>
              <a:buNone/>
            </a:pPr>
            <a:r>
              <a:rPr lang="en-US" sz="1400" i="1" dirty="0">
                <a:solidFill>
                  <a:srgbClr val="FFFFFF"/>
                </a:solidFill>
                <a:latin typeface="Arial" pitchFamily="34" charset="0"/>
                <a:ea typeface="Arial" pitchFamily="34" charset="-122"/>
                <a:cs typeface="Arial" pitchFamily="34" charset="-120"/>
              </a:rPr>
              <a:t>Need confidence before sending a deposit from abroad.</a:t>
            </a:r>
            <a:endParaRPr lang="en-US" sz="1400" dirty="0"/>
          </a:p>
        </p:txBody>
      </p:sp>
      <p:sp>
        <p:nvSpPr>
          <p:cNvPr id="11" name="Text 9"/>
          <p:cNvSpPr txBox="1"/>
          <p:nvPr/>
        </p:nvSpPr>
        <p:spPr>
          <a:xfrm>
            <a:off x="640080" y="896112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THE GAP</a:t>
            </a:r>
            <a:endParaRPr lang="en-US" sz="2000" dirty="0"/>
          </a:p>
        </p:txBody>
      </p:sp>
      <p:sp>
        <p:nvSpPr>
          <p:cNvPr id="12" name="Text 10"/>
          <p:cNvSpPr txBox="1"/>
          <p:nvPr/>
        </p:nvSpPr>
        <p:spPr>
          <a:xfrm>
            <a:off x="640080" y="9372600"/>
            <a:ext cx="6281928" cy="6400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Instagram works for discovery but not for qualifying a lead or proving credibility. The site closes that gap.</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8"/>
        </a:solidFill>
      </p:bgPr>
    </p:bg>
    <p:spTree>
      <p:nvGrpSpPr>
        <p:cNvPr id="1" name=""/>
        <p:cNvGrpSpPr/>
        <p:nvPr/>
      </p:nvGrpSpPr>
      <p:grpSpPr>
        <a:xfrm>
          <a:off x="0" y="0"/>
          <a:ext cx="0" cy="0"/>
          <a:chOff x="0" y="0"/>
          <a:chExt cx="0" cy="0"/>
        </a:xfrm>
      </p:grpSpPr>
      <p:sp>
        <p:nvSpPr>
          <p:cNvPr id="2" name="Text 0"/>
          <p:cNvSpPr txBox="1"/>
          <p:nvPr/>
        </p:nvSpPr>
        <p:spPr>
          <a:xfrm>
            <a:off x="640080" y="548640"/>
            <a:ext cx="5120640" cy="1554480"/>
          </a:xfrm>
          <a:prstGeom prst="rect">
            <a:avLst/>
          </a:prstGeom>
          <a:noFill/>
          <a:ln/>
        </p:spPr>
        <p:txBody>
          <a:bodyPr wrap="square" lIns="0" tIns="0" rIns="0" bIns="0" rtlCol="0" anchor="t"/>
          <a:lstStyle/>
          <a:p>
            <a:pPr indent="0" marL="0">
              <a:lnSpc>
                <a:spcPct val="90000"/>
              </a:lnSpc>
              <a:buNone/>
            </a:pPr>
            <a:r>
              <a:rPr lang="en-US" sz="4400" b="1" dirty="0">
                <a:solidFill>
                  <a:srgbClr val="C8102E"/>
                </a:solidFill>
                <a:latin typeface="Arial" pitchFamily="34" charset="0"/>
                <a:ea typeface="Arial" pitchFamily="34" charset="-122"/>
                <a:cs typeface="Arial" pitchFamily="34" charset="-120"/>
              </a:rPr>
              <a:t>Services</a:t>
            </a:r>
            <a:endParaRPr lang="en-US" sz="4400" dirty="0"/>
          </a:p>
        </p:txBody>
      </p:sp>
      <p:sp>
        <p:nvSpPr>
          <p:cNvPr id="3" name="Shape 1"/>
          <p:cNvSpPr/>
          <p:nvPr/>
        </p:nvSpPr>
        <p:spPr>
          <a:xfrm>
            <a:off x="6400800" y="685800"/>
            <a:ext cx="502920" cy="502920"/>
          </a:xfrm>
          <a:prstGeom prst="star6">
            <a:avLst/>
          </a:prstGeom>
          <a:solidFill>
            <a:srgbClr val="C8102E"/>
          </a:solidFill>
          <a:ln w="12700">
            <a:solidFill>
              <a:srgbClr val="C8102E"/>
            </a:solidFill>
            <a:prstDash val="solid"/>
          </a:ln>
        </p:spPr>
      </p:sp>
      <p:sp>
        <p:nvSpPr>
          <p:cNvPr id="4" name="Shape 2"/>
          <p:cNvSpPr/>
          <p:nvPr/>
        </p:nvSpPr>
        <p:spPr>
          <a:xfrm>
            <a:off x="640080" y="2240280"/>
            <a:ext cx="6281928" cy="0"/>
          </a:xfrm>
          <a:prstGeom prst="line">
            <a:avLst/>
          </a:prstGeom>
          <a:noFill/>
          <a:ln w="38100">
            <a:solidFill>
              <a:srgbClr val="C8102E"/>
            </a:solidFill>
            <a:prstDash val="solid"/>
          </a:ln>
        </p:spPr>
      </p:sp>
      <p:sp>
        <p:nvSpPr>
          <p:cNvPr id="5" name="Text 3"/>
          <p:cNvSpPr txBox="1"/>
          <p:nvPr/>
        </p:nvSpPr>
        <p:spPr>
          <a:xfrm>
            <a:off x="640080" y="2606040"/>
            <a:ext cx="640080" cy="822960"/>
          </a:xfrm>
          <a:prstGeom prst="rect">
            <a:avLst/>
          </a:prstGeom>
          <a:noFill/>
          <a:ln/>
        </p:spPr>
        <p:txBody>
          <a:bodyPr wrap="square" lIns="0" tIns="0" rIns="0" bIns="0" rtlCol="0" anchor="t"/>
          <a:lstStyle/>
          <a:p>
            <a:pPr indent="0" marL="0">
              <a:buNone/>
            </a:pPr>
            <a:r>
              <a:rPr lang="en-US" sz="5400" b="1" dirty="0">
                <a:solidFill>
                  <a:srgbClr val="C8102E"/>
                </a:solidFill>
                <a:latin typeface="Arial" pitchFamily="34" charset="0"/>
                <a:ea typeface="Arial" pitchFamily="34" charset="-122"/>
                <a:cs typeface="Arial" pitchFamily="34" charset="-120"/>
              </a:rPr>
              <a:t>1</a:t>
            </a:r>
            <a:endParaRPr lang="en-US" sz="5400" dirty="0"/>
          </a:p>
        </p:txBody>
      </p:sp>
      <p:sp>
        <p:nvSpPr>
          <p:cNvPr id="6" name="Text 4"/>
          <p:cNvSpPr txBox="1"/>
          <p:nvPr/>
        </p:nvSpPr>
        <p:spPr>
          <a:xfrm>
            <a:off x="1508760" y="2651760"/>
            <a:ext cx="541324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Structured enquiry form</a:t>
            </a:r>
            <a:endParaRPr lang="en-US" sz="2000" dirty="0"/>
          </a:p>
        </p:txBody>
      </p:sp>
      <p:sp>
        <p:nvSpPr>
          <p:cNvPr id="7" name="Text 5"/>
          <p:cNvSpPr txBox="1"/>
          <p:nvPr/>
        </p:nvSpPr>
        <p:spPr>
          <a:xfrm>
            <a:off x="1508760" y="3108960"/>
            <a:ext cx="5413248" cy="15544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Replaces the DM back-and-forth. Date comes first, then venue and city, duration, deliverables and a link to a past video the client likes. A line reading "packages start from ₦[amount]" sits beside the form, and the brief arrives on WhatsApp already formatted.</a:t>
            </a:r>
            <a:endParaRPr lang="en-US" sz="1400" dirty="0"/>
          </a:p>
        </p:txBody>
      </p:sp>
      <p:sp>
        <p:nvSpPr>
          <p:cNvPr id="8" name="Text 6"/>
          <p:cNvSpPr txBox="1"/>
          <p:nvPr/>
        </p:nvSpPr>
        <p:spPr>
          <a:xfrm>
            <a:off x="640080" y="4983480"/>
            <a:ext cx="640080" cy="822960"/>
          </a:xfrm>
          <a:prstGeom prst="rect">
            <a:avLst/>
          </a:prstGeom>
          <a:noFill/>
          <a:ln/>
        </p:spPr>
        <p:txBody>
          <a:bodyPr wrap="square" lIns="0" tIns="0" rIns="0" bIns="0" rtlCol="0" anchor="t"/>
          <a:lstStyle/>
          <a:p>
            <a:pPr indent="0" marL="0">
              <a:buNone/>
            </a:pPr>
            <a:r>
              <a:rPr lang="en-US" sz="5400" b="1" dirty="0">
                <a:solidFill>
                  <a:srgbClr val="C8102E"/>
                </a:solidFill>
                <a:latin typeface="Arial" pitchFamily="34" charset="0"/>
                <a:ea typeface="Arial" pitchFamily="34" charset="-122"/>
                <a:cs typeface="Arial" pitchFamily="34" charset="-120"/>
              </a:rPr>
              <a:t>2</a:t>
            </a:r>
            <a:endParaRPr lang="en-US" sz="5400" dirty="0"/>
          </a:p>
        </p:txBody>
      </p:sp>
      <p:sp>
        <p:nvSpPr>
          <p:cNvPr id="9" name="Text 7"/>
          <p:cNvSpPr txBox="1"/>
          <p:nvPr/>
        </p:nvSpPr>
        <p:spPr>
          <a:xfrm>
            <a:off x="1508760" y="5029200"/>
            <a:ext cx="541324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Categorized showreel and portfolio</a:t>
            </a:r>
            <a:endParaRPr lang="en-US" sz="2000" dirty="0"/>
          </a:p>
        </p:txBody>
      </p:sp>
      <p:sp>
        <p:nvSpPr>
          <p:cNvPr id="10" name="Text 8"/>
          <p:cNvSpPr txBox="1"/>
          <p:nvPr/>
        </p:nvSpPr>
        <p:spPr>
          <a:xfrm>
            <a:off x="1508760" y="5486400"/>
            <a:ext cx="5413248" cy="15544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A dark, fast-loading showcase sorted into Commercial, Cultural Festivals, Weddings and Documentaries. One hero reel, poster-first cards, and a player that holds quality better than a social feed.</a:t>
            </a:r>
            <a:endParaRPr lang="en-US" sz="1400" dirty="0"/>
          </a:p>
        </p:txBody>
      </p:sp>
      <p:sp>
        <p:nvSpPr>
          <p:cNvPr id="11" name="Text 9"/>
          <p:cNvSpPr txBox="1"/>
          <p:nvPr/>
        </p:nvSpPr>
        <p:spPr>
          <a:xfrm>
            <a:off x="640080" y="7360920"/>
            <a:ext cx="640080" cy="822960"/>
          </a:xfrm>
          <a:prstGeom prst="rect">
            <a:avLst/>
          </a:prstGeom>
          <a:noFill/>
          <a:ln/>
        </p:spPr>
        <p:txBody>
          <a:bodyPr wrap="square" lIns="0" tIns="0" rIns="0" bIns="0" rtlCol="0" anchor="t"/>
          <a:lstStyle/>
          <a:p>
            <a:pPr indent="0" marL="0">
              <a:buNone/>
            </a:pPr>
            <a:r>
              <a:rPr lang="en-US" sz="5400" b="1" dirty="0">
                <a:solidFill>
                  <a:srgbClr val="C8102E"/>
                </a:solidFill>
                <a:latin typeface="Arial" pitchFamily="34" charset="0"/>
                <a:ea typeface="Arial" pitchFamily="34" charset="-122"/>
                <a:cs typeface="Arial" pitchFamily="34" charset="-120"/>
              </a:rPr>
              <a:t>3</a:t>
            </a:r>
            <a:endParaRPr lang="en-US" sz="5400" dirty="0"/>
          </a:p>
        </p:txBody>
      </p:sp>
      <p:sp>
        <p:nvSpPr>
          <p:cNvPr id="12" name="Text 10"/>
          <p:cNvSpPr txBox="1"/>
          <p:nvPr/>
        </p:nvSpPr>
        <p:spPr>
          <a:xfrm>
            <a:off x="1508760" y="7406640"/>
            <a:ext cx="541324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Credibility page</a:t>
            </a:r>
            <a:endParaRPr lang="en-US" sz="2000" dirty="0"/>
          </a:p>
        </p:txBody>
      </p:sp>
      <p:sp>
        <p:nvSpPr>
          <p:cNvPr id="13" name="Text 11"/>
          <p:cNvSpPr txBox="1"/>
          <p:nvPr/>
        </p:nvSpPr>
        <p:spPr>
          <a:xfrm>
            <a:off x="1508760" y="7863840"/>
            <a:ext cx="5413248" cy="15544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Registration details, equipment list, brand collaborations and press mentions in one place. Only items Boy Concept can verify go live, so every claim holds up when a client checks.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0E8"/>
        </a:solidFill>
      </p:bgPr>
    </p:bg>
    <p:spTree>
      <p:nvGrpSpPr>
        <p:cNvPr id="1" name=""/>
        <p:cNvGrpSpPr/>
        <p:nvPr/>
      </p:nvGrpSpPr>
      <p:grpSpPr>
        <a:xfrm>
          <a:off x="0" y="0"/>
          <a:ext cx="0" cy="0"/>
          <a:chOff x="0" y="0"/>
          <a:chExt cx="0" cy="0"/>
        </a:xfrm>
      </p:grpSpPr>
      <p:sp>
        <p:nvSpPr>
          <p:cNvPr id="2" name="Text 0"/>
          <p:cNvSpPr txBox="1"/>
          <p:nvPr/>
        </p:nvSpPr>
        <p:spPr>
          <a:xfrm>
            <a:off x="640080" y="548640"/>
            <a:ext cx="5120640" cy="1554480"/>
          </a:xfrm>
          <a:prstGeom prst="rect">
            <a:avLst/>
          </a:prstGeom>
          <a:noFill/>
          <a:ln/>
        </p:spPr>
        <p:txBody>
          <a:bodyPr wrap="square" lIns="0" tIns="0" rIns="0" bIns="0" rtlCol="0" anchor="t"/>
          <a:lstStyle/>
          <a:p>
            <a:pPr indent="0" marL="0">
              <a:lnSpc>
                <a:spcPct val="90000"/>
              </a:lnSpc>
              <a:buNone/>
            </a:pPr>
            <a:r>
              <a:rPr lang="en-US" sz="4400" b="1" dirty="0">
                <a:solidFill>
                  <a:srgbClr val="C8102E"/>
                </a:solidFill>
                <a:latin typeface="Arial" pitchFamily="34" charset="0"/>
                <a:ea typeface="Arial" pitchFamily="34" charset="-122"/>
                <a:cs typeface="Arial" pitchFamily="34" charset="-120"/>
              </a:rPr>
              <a:t>Operations</a:t>
            </a:r>
            <a:endParaRPr lang="en-US" sz="4400" dirty="0"/>
          </a:p>
          <a:p>
            <a:pPr indent="0" marL="0">
              <a:lnSpc>
                <a:spcPct val="90000"/>
              </a:lnSpc>
              <a:buNone/>
            </a:pPr>
            <a:r>
              <a:rPr lang="en-US" sz="4400" b="1" dirty="0">
                <a:solidFill>
                  <a:srgbClr val="C8102E"/>
                </a:solidFill>
                <a:latin typeface="Arial" pitchFamily="34" charset="0"/>
                <a:ea typeface="Arial" pitchFamily="34" charset="-122"/>
                <a:cs typeface="Arial" pitchFamily="34" charset="-120"/>
              </a:rPr>
              <a:t>Plan</a:t>
            </a:r>
            <a:endParaRPr lang="en-US" sz="4400" dirty="0"/>
          </a:p>
        </p:txBody>
      </p:sp>
      <p:sp>
        <p:nvSpPr>
          <p:cNvPr id="3" name="Shape 1"/>
          <p:cNvSpPr/>
          <p:nvPr/>
        </p:nvSpPr>
        <p:spPr>
          <a:xfrm>
            <a:off x="6400800" y="685800"/>
            <a:ext cx="502920" cy="502920"/>
          </a:xfrm>
          <a:prstGeom prst="star6">
            <a:avLst/>
          </a:prstGeom>
          <a:solidFill>
            <a:srgbClr val="C8102E"/>
          </a:solidFill>
          <a:ln w="12700">
            <a:solidFill>
              <a:srgbClr val="C8102E"/>
            </a:solidFill>
            <a:prstDash val="solid"/>
          </a:ln>
        </p:spPr>
      </p:sp>
      <p:sp>
        <p:nvSpPr>
          <p:cNvPr id="4" name="Shape 2"/>
          <p:cNvSpPr/>
          <p:nvPr/>
        </p:nvSpPr>
        <p:spPr>
          <a:xfrm>
            <a:off x="640080" y="2240280"/>
            <a:ext cx="6281928" cy="0"/>
          </a:xfrm>
          <a:prstGeom prst="line">
            <a:avLst/>
          </a:prstGeom>
          <a:noFill/>
          <a:ln w="38100">
            <a:solidFill>
              <a:srgbClr val="C8102E"/>
            </a:solidFill>
            <a:prstDash val="solid"/>
          </a:ln>
        </p:spPr>
      </p:sp>
      <p:sp>
        <p:nvSpPr>
          <p:cNvPr id="5" name="Shape 3"/>
          <p:cNvSpPr/>
          <p:nvPr/>
        </p:nvSpPr>
        <p:spPr>
          <a:xfrm>
            <a:off x="3108960" y="2651760"/>
            <a:ext cx="0" cy="6949440"/>
          </a:xfrm>
          <a:prstGeom prst="line">
            <a:avLst/>
          </a:prstGeom>
          <a:noFill/>
          <a:ln w="38100">
            <a:solidFill>
              <a:srgbClr val="C8102E"/>
            </a:solidFill>
            <a:prstDash val="solid"/>
          </a:ln>
        </p:spPr>
      </p:sp>
      <p:sp>
        <p:nvSpPr>
          <p:cNvPr id="6" name="Text 4"/>
          <p:cNvSpPr txBox="1"/>
          <p:nvPr/>
        </p:nvSpPr>
        <p:spPr>
          <a:xfrm>
            <a:off x="640080" y="2651760"/>
            <a:ext cx="2240280" cy="155448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Stage 1:</a:t>
            </a:r>
            <a:endParaRPr lang="en-US" sz="2000" dirty="0"/>
          </a:p>
          <a:p>
            <a:pPr indent="0" marL="0">
              <a:buNone/>
            </a:pPr>
            <a:r>
              <a:rPr lang="en-US" sz="2000" b="1" dirty="0">
                <a:solidFill>
                  <a:srgbClr val="C8102E"/>
                </a:solidFill>
                <a:latin typeface="Arial" pitchFamily="34" charset="0"/>
                <a:ea typeface="Arial" pitchFamily="34" charset="-122"/>
                <a:cs typeface="Arial" pitchFamily="34" charset="-120"/>
              </a:rPr>
              <a:t>Discovery</a:t>
            </a:r>
            <a:endParaRPr lang="en-US" sz="2000" dirty="0"/>
          </a:p>
          <a:p>
            <a:pPr indent="0" marL="0">
              <a:buNone/>
            </a:pPr>
            <a:r>
              <a:rPr lang="en-US" sz="1400" b="1" dirty="0">
                <a:solidFill>
                  <a:srgbClr val="C8102E"/>
                </a:solidFill>
                <a:latin typeface="Arial" pitchFamily="34" charset="0"/>
                <a:ea typeface="Arial" pitchFamily="34" charset="-122"/>
                <a:cs typeface="Arial" pitchFamily="34" charset="-120"/>
              </a:rPr>
              <a:t>(Week 1)</a:t>
            </a:r>
            <a:endParaRPr lang="en-US" sz="2000" dirty="0"/>
          </a:p>
        </p:txBody>
      </p:sp>
      <p:sp>
        <p:nvSpPr>
          <p:cNvPr id="7" name="Text 5"/>
          <p:cNvSpPr txBox="1"/>
          <p:nvPr/>
        </p:nvSpPr>
        <p:spPr>
          <a:xfrm>
            <a:off x="3383280" y="2651760"/>
            <a:ext cx="3538728" cy="15544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Collect the logo, best reels, client list, equipment details, package pricing and verified credentials. Agree the categories and enquiry form fields.</a:t>
            </a:r>
            <a:endParaRPr lang="en-US" sz="1400" dirty="0"/>
          </a:p>
        </p:txBody>
      </p:sp>
      <p:sp>
        <p:nvSpPr>
          <p:cNvPr id="8" name="Text 6"/>
          <p:cNvSpPr txBox="1"/>
          <p:nvPr/>
        </p:nvSpPr>
        <p:spPr>
          <a:xfrm>
            <a:off x="640080" y="4434840"/>
            <a:ext cx="2240280" cy="155448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Stage 2:</a:t>
            </a:r>
            <a:endParaRPr lang="en-US" sz="2000" dirty="0"/>
          </a:p>
          <a:p>
            <a:pPr indent="0" marL="0">
              <a:buNone/>
            </a:pPr>
            <a:r>
              <a:rPr lang="en-US" sz="2000" b="1" dirty="0">
                <a:solidFill>
                  <a:srgbClr val="C8102E"/>
                </a:solidFill>
                <a:latin typeface="Arial" pitchFamily="34" charset="0"/>
                <a:ea typeface="Arial" pitchFamily="34" charset="-122"/>
                <a:cs typeface="Arial" pitchFamily="34" charset="-120"/>
              </a:rPr>
              <a:t>Design</a:t>
            </a:r>
            <a:endParaRPr lang="en-US" sz="2000" dirty="0"/>
          </a:p>
          <a:p>
            <a:pPr indent="0" marL="0">
              <a:buNone/>
            </a:pPr>
            <a:r>
              <a:rPr lang="en-US" sz="1400" b="1" dirty="0">
                <a:solidFill>
                  <a:srgbClr val="C8102E"/>
                </a:solidFill>
                <a:latin typeface="Arial" pitchFamily="34" charset="0"/>
                <a:ea typeface="Arial" pitchFamily="34" charset="-122"/>
                <a:cs typeface="Arial" pitchFamily="34" charset="-120"/>
              </a:rPr>
              <a:t>(Weeks 1 to 2)</a:t>
            </a:r>
            <a:endParaRPr lang="en-US" sz="2000" dirty="0"/>
          </a:p>
        </p:txBody>
      </p:sp>
      <p:sp>
        <p:nvSpPr>
          <p:cNvPr id="9" name="Text 7"/>
          <p:cNvSpPr txBox="1"/>
          <p:nvPr/>
        </p:nvSpPr>
        <p:spPr>
          <a:xfrm>
            <a:off x="3383280" y="4434840"/>
            <a:ext cx="3538728" cy="15544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Dark-mode layouts for the hero, showreel, portfolio grid, credentials and enquiry form. Mobile screens first, since most visitors arrive from Instagram on phones.</a:t>
            </a:r>
            <a:endParaRPr lang="en-US" sz="1400" dirty="0"/>
          </a:p>
        </p:txBody>
      </p:sp>
      <p:sp>
        <p:nvSpPr>
          <p:cNvPr id="10" name="Text 8"/>
          <p:cNvSpPr txBox="1"/>
          <p:nvPr/>
        </p:nvSpPr>
        <p:spPr>
          <a:xfrm>
            <a:off x="640080" y="6217920"/>
            <a:ext cx="2240280" cy="155448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Stage 3:</a:t>
            </a:r>
            <a:endParaRPr lang="en-US" sz="2000" dirty="0"/>
          </a:p>
          <a:p>
            <a:pPr indent="0" marL="0">
              <a:buNone/>
            </a:pPr>
            <a:r>
              <a:rPr lang="en-US" sz="2000" b="1" dirty="0">
                <a:solidFill>
                  <a:srgbClr val="C8102E"/>
                </a:solidFill>
                <a:latin typeface="Arial" pitchFamily="34" charset="0"/>
                <a:ea typeface="Arial" pitchFamily="34" charset="-122"/>
                <a:cs typeface="Arial" pitchFamily="34" charset="-120"/>
              </a:rPr>
              <a:t>Build and Test</a:t>
            </a:r>
            <a:endParaRPr lang="en-US" sz="2000" dirty="0"/>
          </a:p>
          <a:p>
            <a:pPr indent="0" marL="0">
              <a:buNone/>
            </a:pPr>
            <a:r>
              <a:rPr lang="en-US" sz="1400" b="1" dirty="0">
                <a:solidFill>
                  <a:srgbClr val="C8102E"/>
                </a:solidFill>
                <a:latin typeface="Arial" pitchFamily="34" charset="0"/>
                <a:ea typeface="Arial" pitchFamily="34" charset="-122"/>
                <a:cs typeface="Arial" pitchFamily="34" charset="-120"/>
              </a:rPr>
              <a:t>(Weeks 2 to 3)</a:t>
            </a:r>
            <a:endParaRPr lang="en-US" sz="2000" dirty="0"/>
          </a:p>
        </p:txBody>
      </p:sp>
      <p:sp>
        <p:nvSpPr>
          <p:cNvPr id="11" name="Text 9"/>
          <p:cNvSpPr txBox="1"/>
          <p:nvPr/>
        </p:nvSpPr>
        <p:spPr>
          <a:xfrm>
            <a:off x="3383280" y="6217920"/>
            <a:ext cx="3538728" cy="15544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Build the site, connect the form to WhatsApp, and test load time on slow mobile data before anything goes live.</a:t>
            </a:r>
            <a:endParaRPr lang="en-US" sz="1400" dirty="0"/>
          </a:p>
        </p:txBody>
      </p:sp>
      <p:sp>
        <p:nvSpPr>
          <p:cNvPr id="12" name="Text 10"/>
          <p:cNvSpPr txBox="1"/>
          <p:nvPr/>
        </p:nvSpPr>
        <p:spPr>
          <a:xfrm>
            <a:off x="640080" y="8001000"/>
            <a:ext cx="2240280" cy="155448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Stage 4:</a:t>
            </a:r>
            <a:endParaRPr lang="en-US" sz="2000" dirty="0"/>
          </a:p>
          <a:p>
            <a:pPr indent="0" marL="0">
              <a:buNone/>
            </a:pPr>
            <a:r>
              <a:rPr lang="en-US" sz="2000" b="1" dirty="0">
                <a:solidFill>
                  <a:srgbClr val="C8102E"/>
                </a:solidFill>
                <a:latin typeface="Arial" pitchFamily="34" charset="0"/>
                <a:ea typeface="Arial" pitchFamily="34" charset="-122"/>
                <a:cs typeface="Arial" pitchFamily="34" charset="-120"/>
              </a:rPr>
              <a:t>Launch and Handover</a:t>
            </a:r>
            <a:endParaRPr lang="en-US" sz="2000" dirty="0"/>
          </a:p>
          <a:p>
            <a:pPr indent="0" marL="0">
              <a:buNone/>
            </a:pPr>
            <a:r>
              <a:rPr lang="en-US" sz="1400" b="1" dirty="0">
                <a:solidFill>
                  <a:srgbClr val="C8102E"/>
                </a:solidFill>
                <a:latin typeface="Arial" pitchFamily="34" charset="0"/>
                <a:ea typeface="Arial" pitchFamily="34" charset="-122"/>
                <a:cs typeface="Arial" pitchFamily="34" charset="-120"/>
              </a:rPr>
              <a:t>(Week 4)</a:t>
            </a:r>
            <a:endParaRPr lang="en-US" sz="2000" dirty="0"/>
          </a:p>
        </p:txBody>
      </p:sp>
      <p:sp>
        <p:nvSpPr>
          <p:cNvPr id="13" name="Text 11"/>
          <p:cNvSpPr txBox="1"/>
          <p:nvPr/>
        </p:nvSpPr>
        <p:spPr>
          <a:xfrm>
            <a:off x="3383280" y="8001000"/>
            <a:ext cx="3538728" cy="155448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Connect the domain, publish, and walk Emmanuel through updating reels and credentials himself.</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8"/>
        </a:solidFill>
      </p:bgPr>
    </p:bg>
    <p:spTree>
      <p:nvGrpSpPr>
        <p:cNvPr id="1" name=""/>
        <p:cNvGrpSpPr/>
        <p:nvPr/>
      </p:nvGrpSpPr>
      <p:grpSpPr>
        <a:xfrm>
          <a:off x="0" y="0"/>
          <a:ext cx="0" cy="0"/>
          <a:chOff x="0" y="0"/>
          <a:chExt cx="0" cy="0"/>
        </a:xfrm>
      </p:grpSpPr>
      <p:sp>
        <p:nvSpPr>
          <p:cNvPr id="2" name="Text 0"/>
          <p:cNvSpPr txBox="1"/>
          <p:nvPr/>
        </p:nvSpPr>
        <p:spPr>
          <a:xfrm>
            <a:off x="640080" y="548640"/>
            <a:ext cx="5120640" cy="1554480"/>
          </a:xfrm>
          <a:prstGeom prst="rect">
            <a:avLst/>
          </a:prstGeom>
          <a:noFill/>
          <a:ln/>
        </p:spPr>
        <p:txBody>
          <a:bodyPr wrap="square" lIns="0" tIns="0" rIns="0" bIns="0" rtlCol="0" anchor="t"/>
          <a:lstStyle/>
          <a:p>
            <a:pPr indent="0" marL="0">
              <a:lnSpc>
                <a:spcPct val="90000"/>
              </a:lnSpc>
              <a:buNone/>
            </a:pPr>
            <a:r>
              <a:rPr lang="en-US" sz="4400" b="1" dirty="0">
                <a:solidFill>
                  <a:srgbClr val="C8102E"/>
                </a:solidFill>
                <a:latin typeface="Arial" pitchFamily="34" charset="0"/>
                <a:ea typeface="Arial" pitchFamily="34" charset="-122"/>
                <a:cs typeface="Arial" pitchFamily="34" charset="-120"/>
              </a:rPr>
              <a:t>Investment</a:t>
            </a:r>
            <a:endParaRPr lang="en-US" sz="4400" dirty="0"/>
          </a:p>
          <a:p>
            <a:pPr indent="0" marL="0">
              <a:lnSpc>
                <a:spcPct val="90000"/>
              </a:lnSpc>
              <a:buNone/>
            </a:pPr>
            <a:r>
              <a:rPr lang="en-US" sz="4400" b="1" dirty="0">
                <a:solidFill>
                  <a:srgbClr val="C8102E"/>
                </a:solidFill>
                <a:latin typeface="Arial" pitchFamily="34" charset="0"/>
                <a:ea typeface="Arial" pitchFamily="34" charset="-122"/>
                <a:cs typeface="Arial" pitchFamily="34" charset="-120"/>
              </a:rPr>
              <a:t>and Next Steps</a:t>
            </a:r>
            <a:endParaRPr lang="en-US" sz="4400" dirty="0"/>
          </a:p>
        </p:txBody>
      </p:sp>
      <p:sp>
        <p:nvSpPr>
          <p:cNvPr id="3" name="Shape 1"/>
          <p:cNvSpPr/>
          <p:nvPr/>
        </p:nvSpPr>
        <p:spPr>
          <a:xfrm>
            <a:off x="6400800" y="685800"/>
            <a:ext cx="502920" cy="502920"/>
          </a:xfrm>
          <a:prstGeom prst="star6">
            <a:avLst/>
          </a:prstGeom>
          <a:solidFill>
            <a:srgbClr val="C8102E"/>
          </a:solidFill>
          <a:ln w="12700">
            <a:solidFill>
              <a:srgbClr val="C8102E"/>
            </a:solidFill>
            <a:prstDash val="solid"/>
          </a:ln>
        </p:spPr>
      </p:sp>
      <p:sp>
        <p:nvSpPr>
          <p:cNvPr id="4" name="Shape 2"/>
          <p:cNvSpPr/>
          <p:nvPr/>
        </p:nvSpPr>
        <p:spPr>
          <a:xfrm>
            <a:off x="640080" y="2240280"/>
            <a:ext cx="6281928" cy="0"/>
          </a:xfrm>
          <a:prstGeom prst="line">
            <a:avLst/>
          </a:prstGeom>
          <a:noFill/>
          <a:ln w="38100">
            <a:solidFill>
              <a:srgbClr val="C8102E"/>
            </a:solidFill>
            <a:prstDash val="solid"/>
          </a:ln>
        </p:spPr>
      </p:sp>
      <p:sp>
        <p:nvSpPr>
          <p:cNvPr id="5" name="Text 3"/>
          <p:cNvSpPr txBox="1"/>
          <p:nvPr/>
        </p:nvSpPr>
        <p:spPr>
          <a:xfrm>
            <a:off x="640080" y="256032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INVESTMENT</a:t>
            </a:r>
            <a:endParaRPr lang="en-US" sz="2000" dirty="0"/>
          </a:p>
        </p:txBody>
      </p:sp>
      <p:sp>
        <p:nvSpPr>
          <p:cNvPr id="6" name="Text 4"/>
          <p:cNvSpPr txBox="1"/>
          <p:nvPr/>
        </p:nvSpPr>
        <p:spPr>
          <a:xfrm>
            <a:off x="640080" y="3063240"/>
            <a:ext cx="4389120" cy="36576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Discovery and design</a:t>
            </a:r>
            <a:endParaRPr lang="en-US" sz="1400" dirty="0"/>
          </a:p>
        </p:txBody>
      </p:sp>
      <p:sp>
        <p:nvSpPr>
          <p:cNvPr id="7" name="Text 5"/>
          <p:cNvSpPr txBox="1"/>
          <p:nvPr/>
        </p:nvSpPr>
        <p:spPr>
          <a:xfrm>
            <a:off x="5276088" y="3063240"/>
            <a:ext cx="1645920" cy="365760"/>
          </a:xfrm>
          <a:prstGeom prst="rect">
            <a:avLst/>
          </a:prstGeom>
          <a:noFill/>
          <a:ln/>
        </p:spPr>
        <p:txBody>
          <a:bodyPr wrap="square" lIns="0" tIns="0" rIns="0" bIns="0" rtlCol="0" anchor="t"/>
          <a:lstStyle/>
          <a:p>
            <a:pPr algn="r" indent="0" marL="0">
              <a:buNone/>
            </a:pPr>
            <a:r>
              <a:rPr lang="en-US" sz="1400" b="1" dirty="0">
                <a:solidFill>
                  <a:srgbClr val="C8102E"/>
                </a:solidFill>
                <a:latin typeface="Arial" pitchFamily="34" charset="0"/>
                <a:ea typeface="Arial" pitchFamily="34" charset="-122"/>
                <a:cs typeface="Arial" pitchFamily="34" charset="-120"/>
              </a:rPr>
              <a:t>₦[amount]</a:t>
            </a:r>
            <a:endParaRPr lang="en-US" sz="1400" dirty="0"/>
          </a:p>
        </p:txBody>
      </p:sp>
      <p:sp>
        <p:nvSpPr>
          <p:cNvPr id="8" name="Shape 6"/>
          <p:cNvSpPr/>
          <p:nvPr/>
        </p:nvSpPr>
        <p:spPr>
          <a:xfrm>
            <a:off x="640080" y="3474720"/>
            <a:ext cx="6281928" cy="0"/>
          </a:xfrm>
          <a:prstGeom prst="line">
            <a:avLst/>
          </a:prstGeom>
          <a:noFill/>
          <a:ln w="12700">
            <a:solidFill>
              <a:srgbClr val="C8102E"/>
            </a:solidFill>
            <a:prstDash val="solid"/>
          </a:ln>
        </p:spPr>
      </p:sp>
      <p:sp>
        <p:nvSpPr>
          <p:cNvPr id="9" name="Text 7"/>
          <p:cNvSpPr txBox="1"/>
          <p:nvPr/>
        </p:nvSpPr>
        <p:spPr>
          <a:xfrm>
            <a:off x="640080" y="3657600"/>
            <a:ext cx="4389120" cy="36576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Website build</a:t>
            </a:r>
            <a:endParaRPr lang="en-US" sz="1400" dirty="0"/>
          </a:p>
        </p:txBody>
      </p:sp>
      <p:sp>
        <p:nvSpPr>
          <p:cNvPr id="10" name="Text 8"/>
          <p:cNvSpPr txBox="1"/>
          <p:nvPr/>
        </p:nvSpPr>
        <p:spPr>
          <a:xfrm>
            <a:off x="5276088" y="3657600"/>
            <a:ext cx="1645920" cy="365760"/>
          </a:xfrm>
          <a:prstGeom prst="rect">
            <a:avLst/>
          </a:prstGeom>
          <a:noFill/>
          <a:ln/>
        </p:spPr>
        <p:txBody>
          <a:bodyPr wrap="square" lIns="0" tIns="0" rIns="0" bIns="0" rtlCol="0" anchor="t"/>
          <a:lstStyle/>
          <a:p>
            <a:pPr algn="r" indent="0" marL="0">
              <a:buNone/>
            </a:pPr>
            <a:r>
              <a:rPr lang="en-US" sz="1400" b="1" dirty="0">
                <a:solidFill>
                  <a:srgbClr val="C8102E"/>
                </a:solidFill>
                <a:latin typeface="Arial" pitchFamily="34" charset="0"/>
                <a:ea typeface="Arial" pitchFamily="34" charset="-122"/>
                <a:cs typeface="Arial" pitchFamily="34" charset="-120"/>
              </a:rPr>
              <a:t>₦[amount]</a:t>
            </a:r>
            <a:endParaRPr lang="en-US" sz="1400" dirty="0"/>
          </a:p>
        </p:txBody>
      </p:sp>
      <p:sp>
        <p:nvSpPr>
          <p:cNvPr id="11" name="Shape 9"/>
          <p:cNvSpPr/>
          <p:nvPr/>
        </p:nvSpPr>
        <p:spPr>
          <a:xfrm>
            <a:off x="640080" y="4069080"/>
            <a:ext cx="6281928" cy="0"/>
          </a:xfrm>
          <a:prstGeom prst="line">
            <a:avLst/>
          </a:prstGeom>
          <a:noFill/>
          <a:ln w="12700">
            <a:solidFill>
              <a:srgbClr val="C8102E"/>
            </a:solidFill>
            <a:prstDash val="solid"/>
          </a:ln>
        </p:spPr>
      </p:sp>
      <p:sp>
        <p:nvSpPr>
          <p:cNvPr id="12" name="Text 10"/>
          <p:cNvSpPr txBox="1"/>
          <p:nvPr/>
        </p:nvSpPr>
        <p:spPr>
          <a:xfrm>
            <a:off x="640080" y="4251960"/>
            <a:ext cx="4389120" cy="36576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Enquiry form and WhatsApp routing</a:t>
            </a:r>
            <a:endParaRPr lang="en-US" sz="1400" dirty="0"/>
          </a:p>
        </p:txBody>
      </p:sp>
      <p:sp>
        <p:nvSpPr>
          <p:cNvPr id="13" name="Text 11"/>
          <p:cNvSpPr txBox="1"/>
          <p:nvPr/>
        </p:nvSpPr>
        <p:spPr>
          <a:xfrm>
            <a:off x="5276088" y="4251960"/>
            <a:ext cx="1645920" cy="365760"/>
          </a:xfrm>
          <a:prstGeom prst="rect">
            <a:avLst/>
          </a:prstGeom>
          <a:noFill/>
          <a:ln/>
        </p:spPr>
        <p:txBody>
          <a:bodyPr wrap="square" lIns="0" tIns="0" rIns="0" bIns="0" rtlCol="0" anchor="t"/>
          <a:lstStyle/>
          <a:p>
            <a:pPr algn="r" indent="0" marL="0">
              <a:buNone/>
            </a:pPr>
            <a:r>
              <a:rPr lang="en-US" sz="1400" b="1" dirty="0">
                <a:solidFill>
                  <a:srgbClr val="C8102E"/>
                </a:solidFill>
                <a:latin typeface="Arial" pitchFamily="34" charset="0"/>
                <a:ea typeface="Arial" pitchFamily="34" charset="-122"/>
                <a:cs typeface="Arial" pitchFamily="34" charset="-120"/>
              </a:rPr>
              <a:t>₦[amount]</a:t>
            </a:r>
            <a:endParaRPr lang="en-US" sz="1400" dirty="0"/>
          </a:p>
        </p:txBody>
      </p:sp>
      <p:sp>
        <p:nvSpPr>
          <p:cNvPr id="14" name="Shape 12"/>
          <p:cNvSpPr/>
          <p:nvPr/>
        </p:nvSpPr>
        <p:spPr>
          <a:xfrm>
            <a:off x="640080" y="4663440"/>
            <a:ext cx="6281928" cy="0"/>
          </a:xfrm>
          <a:prstGeom prst="line">
            <a:avLst/>
          </a:prstGeom>
          <a:noFill/>
          <a:ln w="12700">
            <a:solidFill>
              <a:srgbClr val="C8102E"/>
            </a:solidFill>
            <a:prstDash val="solid"/>
          </a:ln>
        </p:spPr>
      </p:sp>
      <p:sp>
        <p:nvSpPr>
          <p:cNvPr id="15" name="Text 13"/>
          <p:cNvSpPr txBox="1"/>
          <p:nvPr/>
        </p:nvSpPr>
        <p:spPr>
          <a:xfrm>
            <a:off x="640080" y="4846320"/>
            <a:ext cx="4389120" cy="36576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Domain and hosting (per year)</a:t>
            </a:r>
            <a:endParaRPr lang="en-US" sz="1400" dirty="0"/>
          </a:p>
        </p:txBody>
      </p:sp>
      <p:sp>
        <p:nvSpPr>
          <p:cNvPr id="16" name="Text 14"/>
          <p:cNvSpPr txBox="1"/>
          <p:nvPr/>
        </p:nvSpPr>
        <p:spPr>
          <a:xfrm>
            <a:off x="5276088" y="4846320"/>
            <a:ext cx="1645920" cy="365760"/>
          </a:xfrm>
          <a:prstGeom prst="rect">
            <a:avLst/>
          </a:prstGeom>
          <a:noFill/>
          <a:ln/>
        </p:spPr>
        <p:txBody>
          <a:bodyPr wrap="square" lIns="0" tIns="0" rIns="0" bIns="0" rtlCol="0" anchor="t"/>
          <a:lstStyle/>
          <a:p>
            <a:pPr algn="r" indent="0" marL="0">
              <a:buNone/>
            </a:pPr>
            <a:r>
              <a:rPr lang="en-US" sz="1400" b="1" dirty="0">
                <a:solidFill>
                  <a:srgbClr val="C8102E"/>
                </a:solidFill>
                <a:latin typeface="Arial" pitchFamily="34" charset="0"/>
                <a:ea typeface="Arial" pitchFamily="34" charset="-122"/>
                <a:cs typeface="Arial" pitchFamily="34" charset="-120"/>
              </a:rPr>
              <a:t>₦[amount]</a:t>
            </a:r>
            <a:endParaRPr lang="en-US" sz="1400" dirty="0"/>
          </a:p>
        </p:txBody>
      </p:sp>
      <p:sp>
        <p:nvSpPr>
          <p:cNvPr id="17" name="Shape 15"/>
          <p:cNvSpPr/>
          <p:nvPr/>
        </p:nvSpPr>
        <p:spPr>
          <a:xfrm>
            <a:off x="640080" y="5257800"/>
            <a:ext cx="6281928" cy="0"/>
          </a:xfrm>
          <a:prstGeom prst="line">
            <a:avLst/>
          </a:prstGeom>
          <a:noFill/>
          <a:ln w="12700">
            <a:solidFill>
              <a:srgbClr val="C8102E"/>
            </a:solidFill>
            <a:prstDash val="solid"/>
          </a:ln>
        </p:spPr>
      </p:sp>
      <p:sp>
        <p:nvSpPr>
          <p:cNvPr id="18" name="Text 16"/>
          <p:cNvSpPr txBox="1"/>
          <p:nvPr/>
        </p:nvSpPr>
        <p:spPr>
          <a:xfrm>
            <a:off x="640080" y="5440680"/>
            <a:ext cx="4389120" cy="365760"/>
          </a:xfrm>
          <a:prstGeom prst="rect">
            <a:avLst/>
          </a:prstGeom>
          <a:noFill/>
          <a:ln/>
        </p:spPr>
        <p:txBody>
          <a:bodyPr wrap="square" lIns="0" tIns="0" rIns="0" bIns="0" rtlCol="0" anchor="t"/>
          <a:lstStyle/>
          <a:p>
            <a:pPr indent="0" marL="0">
              <a:buNone/>
            </a:pPr>
            <a:r>
              <a:rPr lang="en-US" sz="1400" b="1" dirty="0">
                <a:solidFill>
                  <a:srgbClr val="C8102E"/>
                </a:solidFill>
                <a:latin typeface="Arial" pitchFamily="34" charset="0"/>
                <a:ea typeface="Arial" pitchFamily="34" charset="-122"/>
                <a:cs typeface="Arial" pitchFamily="34" charset="-120"/>
              </a:rPr>
              <a:t>Total</a:t>
            </a:r>
            <a:endParaRPr lang="en-US" sz="1400" dirty="0"/>
          </a:p>
        </p:txBody>
      </p:sp>
      <p:sp>
        <p:nvSpPr>
          <p:cNvPr id="19" name="Text 17"/>
          <p:cNvSpPr txBox="1"/>
          <p:nvPr/>
        </p:nvSpPr>
        <p:spPr>
          <a:xfrm>
            <a:off x="5276088" y="5440680"/>
            <a:ext cx="1645920" cy="365760"/>
          </a:xfrm>
          <a:prstGeom prst="rect">
            <a:avLst/>
          </a:prstGeom>
          <a:noFill/>
          <a:ln/>
        </p:spPr>
        <p:txBody>
          <a:bodyPr wrap="square" lIns="0" tIns="0" rIns="0" bIns="0" rtlCol="0" anchor="t"/>
          <a:lstStyle/>
          <a:p>
            <a:pPr algn="r" indent="0" marL="0">
              <a:buNone/>
            </a:pPr>
            <a:r>
              <a:rPr lang="en-US" sz="1400" b="1" dirty="0">
                <a:solidFill>
                  <a:srgbClr val="C8102E"/>
                </a:solidFill>
                <a:latin typeface="Arial" pitchFamily="34" charset="0"/>
                <a:ea typeface="Arial" pitchFamily="34" charset="-122"/>
                <a:cs typeface="Arial" pitchFamily="34" charset="-120"/>
              </a:rPr>
              <a:t>₦[amount]</a:t>
            </a:r>
            <a:endParaRPr lang="en-US" sz="1400" dirty="0"/>
          </a:p>
        </p:txBody>
      </p:sp>
      <p:sp>
        <p:nvSpPr>
          <p:cNvPr id="20" name="Shape 18"/>
          <p:cNvSpPr/>
          <p:nvPr/>
        </p:nvSpPr>
        <p:spPr>
          <a:xfrm>
            <a:off x="640080" y="5852160"/>
            <a:ext cx="6281928" cy="0"/>
          </a:xfrm>
          <a:prstGeom prst="line">
            <a:avLst/>
          </a:prstGeom>
          <a:noFill/>
          <a:ln w="38100">
            <a:solidFill>
              <a:srgbClr val="C8102E"/>
            </a:solidFill>
            <a:prstDash val="solid"/>
          </a:ln>
        </p:spPr>
      </p:sp>
      <p:sp>
        <p:nvSpPr>
          <p:cNvPr id="21" name="Text 19"/>
          <p:cNvSpPr txBox="1"/>
          <p:nvPr/>
        </p:nvSpPr>
        <p:spPr>
          <a:xfrm>
            <a:off x="640080" y="640080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OPTIONAL PHASE TWO</a:t>
            </a:r>
            <a:endParaRPr lang="en-US" sz="2000" dirty="0"/>
          </a:p>
        </p:txBody>
      </p:sp>
      <p:sp>
        <p:nvSpPr>
          <p:cNvPr id="22" name="Text 20"/>
          <p:cNvSpPr txBox="1"/>
          <p:nvPr/>
        </p:nvSpPr>
        <p:spPr>
          <a:xfrm>
            <a:off x="640080" y="6812280"/>
            <a:ext cx="6281928" cy="548640"/>
          </a:xfrm>
          <a:prstGeom prst="rect">
            <a:avLst/>
          </a:prstGeom>
          <a:noFill/>
          <a:ln/>
        </p:spPr>
        <p:txBody>
          <a:bodyPr wrap="square" lIns="0" tIns="0" rIns="0" bIns="0" rtlCol="0" anchor="t"/>
          <a:lstStyle/>
          <a:p>
            <a:pPr indent="0" marL="0">
              <a:buNone/>
            </a:pPr>
            <a:r>
              <a:rPr lang="en-US" sz="1400" dirty="0">
                <a:solidFill>
                  <a:srgbClr val="C8102E"/>
                </a:solidFill>
                <a:latin typeface="Arial" pitchFamily="34" charset="0"/>
                <a:ea typeface="Arial" pitchFamily="34" charset="-122"/>
                <a:cs typeface="Arial" pitchFamily="34" charset="-120"/>
              </a:rPr>
              <a:t>Booking deposit through Paystack or Flutterwave, added once the first version is live.</a:t>
            </a:r>
            <a:endParaRPr lang="en-US" sz="1400" dirty="0"/>
          </a:p>
        </p:txBody>
      </p:sp>
      <p:sp>
        <p:nvSpPr>
          <p:cNvPr id="23" name="Text 21"/>
          <p:cNvSpPr txBox="1"/>
          <p:nvPr/>
        </p:nvSpPr>
        <p:spPr>
          <a:xfrm>
            <a:off x="640080" y="7680960"/>
            <a:ext cx="6281928" cy="365760"/>
          </a:xfrm>
          <a:prstGeom prst="rect">
            <a:avLst/>
          </a:prstGeom>
          <a:noFill/>
          <a:ln/>
        </p:spPr>
        <p:txBody>
          <a:bodyPr wrap="square" lIns="0" tIns="0" rIns="0" bIns="0" rtlCol="0" anchor="t"/>
          <a:lstStyle/>
          <a:p>
            <a:pPr indent="0" marL="0">
              <a:buNone/>
            </a:pPr>
            <a:r>
              <a:rPr lang="en-US" sz="2000" b="1" dirty="0">
                <a:solidFill>
                  <a:srgbClr val="C8102E"/>
                </a:solidFill>
                <a:latin typeface="Arial" pitchFamily="34" charset="0"/>
                <a:ea typeface="Arial" pitchFamily="34" charset="-122"/>
                <a:cs typeface="Arial" pitchFamily="34" charset="-120"/>
              </a:rPr>
              <a:t>NEXT STEPS</a:t>
            </a:r>
            <a:endParaRPr lang="en-US" sz="2000" dirty="0"/>
          </a:p>
        </p:txBody>
      </p:sp>
      <p:sp>
        <p:nvSpPr>
          <p:cNvPr id="24" name="Text 22"/>
          <p:cNvSpPr txBox="1"/>
          <p:nvPr/>
        </p:nvSpPr>
        <p:spPr>
          <a:xfrm>
            <a:off x="640080" y="8092440"/>
            <a:ext cx="6281928"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C8102E"/>
                </a:solidFill>
                <a:latin typeface="Arial" pitchFamily="34" charset="0"/>
                <a:ea typeface="Arial" pitchFamily="34" charset="-122"/>
                <a:cs typeface="Arial" pitchFamily="34" charset="-120"/>
              </a:rPr>
              <a:t>Approve this proposal and agree the scope.</a:t>
            </a:r>
            <a:endParaRPr lang="en-US" sz="1400" dirty="0"/>
          </a:p>
          <a:p>
            <a:pPr marL="342900" indent="-342900">
              <a:spcAft>
                <a:spcPts val="600"/>
              </a:spcAft>
              <a:buSzPct val="100000"/>
              <a:buChar char="•"/>
            </a:pPr>
            <a:r>
              <a:rPr lang="en-US" sz="1400" dirty="0">
                <a:solidFill>
                  <a:srgbClr val="C8102E"/>
                </a:solidFill>
                <a:latin typeface="Arial" pitchFamily="34" charset="0"/>
                <a:ea typeface="Arial" pitchFamily="34" charset="-122"/>
                <a:cs typeface="Arial" pitchFamily="34" charset="-120"/>
              </a:rPr>
              <a:t>Send the logo, reels, client list and verified credentials.</a:t>
            </a:r>
            <a:endParaRPr lang="en-US" sz="1400" dirty="0"/>
          </a:p>
          <a:p>
            <a:pPr marL="342900" indent="-342900">
              <a:spcAft>
                <a:spcPts val="600"/>
              </a:spcAft>
              <a:buSzPct val="100000"/>
              <a:buChar char="•"/>
            </a:pPr>
            <a:r>
              <a:rPr lang="en-US" sz="1400" dirty="0">
                <a:solidFill>
                  <a:srgbClr val="C8102E"/>
                </a:solidFill>
                <a:latin typeface="Arial" pitchFamily="34" charset="0"/>
                <a:ea typeface="Arial" pitchFamily="34" charset="-122"/>
                <a:cs typeface="Arial" pitchFamily="34" charset="-120"/>
              </a:rPr>
              <a:t>Pay the starting deposit of [X]%.</a:t>
            </a:r>
            <a:endParaRPr lang="en-US" sz="1400" dirty="0"/>
          </a:p>
          <a:p>
            <a:pPr marL="342900" indent="-342900">
              <a:spcAft>
                <a:spcPts val="600"/>
              </a:spcAft>
              <a:buSzPct val="100000"/>
              <a:buChar char="•"/>
            </a:pPr>
            <a:r>
              <a:rPr lang="en-US" sz="1400" dirty="0">
                <a:solidFill>
                  <a:srgbClr val="C8102E"/>
                </a:solidFill>
                <a:latin typeface="Arial" pitchFamily="34" charset="0"/>
                <a:ea typeface="Arial" pitchFamily="34" charset="-122"/>
                <a:cs typeface="Arial" pitchFamily="34" charset="-120"/>
              </a:rPr>
              <a:t>Review the first design in week 2.</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 Movies Proposal</dc:title>
  <dc:subject>PptxGenJS Presentation</dc:subject>
  <dc:creator>PptxGenJS</dc:creator>
  <cp:lastModifiedBy>PptxGenJS</cp:lastModifiedBy>
  <cp:revision>1</cp:revision>
  <dcterms:created xsi:type="dcterms:W3CDTF">2026-10-05T10:14:29Z</dcterms:created>
  <dcterms:modified xsi:type="dcterms:W3CDTF">2026-10-05T10:14:29Z</dcterms:modified>
</cp:coreProperties>
</file>